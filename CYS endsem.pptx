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30"/>
  </p:notesMasterIdLst>
  <p:sldIdLst>
    <p:sldId id="256" r:id="rId2"/>
    <p:sldId id="257" r:id="rId3"/>
    <p:sldId id="258" r:id="rId4"/>
    <p:sldId id="287" r:id="rId5"/>
    <p:sldId id="259" r:id="rId6"/>
    <p:sldId id="260" r:id="rId7"/>
    <p:sldId id="280" r:id="rId8"/>
    <p:sldId id="281" r:id="rId9"/>
    <p:sldId id="282" r:id="rId10"/>
    <p:sldId id="283" r:id="rId11"/>
    <p:sldId id="284" r:id="rId12"/>
    <p:sldId id="261" r:id="rId13"/>
    <p:sldId id="266" r:id="rId14"/>
    <p:sldId id="268" r:id="rId15"/>
    <p:sldId id="269" r:id="rId16"/>
    <p:sldId id="267" r:id="rId17"/>
    <p:sldId id="270" r:id="rId18"/>
    <p:sldId id="271" r:id="rId19"/>
    <p:sldId id="272" r:id="rId20"/>
    <p:sldId id="274" r:id="rId21"/>
    <p:sldId id="273" r:id="rId22"/>
    <p:sldId id="275" r:id="rId23"/>
    <p:sldId id="276" r:id="rId24"/>
    <p:sldId id="286" r:id="rId25"/>
    <p:sldId id="277" r:id="rId26"/>
    <p:sldId id="278" r:id="rId27"/>
    <p:sldId id="279" r:id="rId28"/>
    <p:sldId id="285" r:id="rId2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DD8CF-8DC0-4744-F37E-2A087640E42F}" v="391" dt="2025-10-28T03:19:22.093"/>
    <p1510:client id="{64EE3EAD-9A90-C47B-FCFB-9FE2DA7F5A03}" v="4843" dt="2025-10-27T15:57:05.579"/>
    <p1510:client id="{ACDBBE04-53A9-7175-3B7F-7C640CD0C75C}" v="317" dt="2025-10-28T06:11:05.356"/>
    <p1510:client id="{C5AE68E5-C3A6-5F0C-130E-0051EF8E7CDB}" v="1154" dt="2025-10-28T05:37:25.053"/>
    <p1510:client id="{F0246392-B717-4177-AFC9-35A95C0C3D41}" v="207" dt="2025-10-28T06:27:31.135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A9792A9-C49C-4329-9E7F-EDD23BA2CD12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19F733F5-36CE-4C32-8986-AB17631C769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DFE06F-7E74-4ACE-BBAC-E6A09824275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4E0F73-8989-6C87-C8D4-D04145B794BC}"/>
              </a:ext>
            </a:extLst>
          </p:cNvPr>
          <p:cNvGrpSpPr/>
          <p:nvPr/>
        </p:nvGrpSpPr>
        <p:grpSpPr>
          <a:xfrm>
            <a:off x="1848240" y="2959554"/>
            <a:ext cx="14591520" cy="3189876"/>
            <a:chOff x="1848240" y="2343407"/>
            <a:chExt cx="14591520" cy="3189876"/>
          </a:xfrm>
        </p:grpSpPr>
        <p:sp>
          <p:nvSpPr>
            <p:cNvPr id="73" name="TextBox 4"/>
            <p:cNvSpPr/>
            <p:nvPr/>
          </p:nvSpPr>
          <p:spPr>
            <a:xfrm>
              <a:off x="1848240" y="3190847"/>
              <a:ext cx="14591520" cy="234243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spc="-1" err="1">
                  <a:solidFill>
                    <a:schemeClr val="dk1"/>
                  </a:solidFill>
                  <a:latin typeface="Poppins"/>
                  <a:ea typeface="+mn-lt"/>
                  <a:cs typeface="Poppins"/>
                </a:rPr>
                <a:t>NeuroEdge</a:t>
              </a:r>
              <a:r>
                <a:rPr lang="en-US" sz="4400" spc="-1">
                  <a:solidFill>
                    <a:schemeClr val="dk1"/>
                  </a:solidFill>
                  <a:latin typeface="Poppins"/>
                  <a:ea typeface="+mn-lt"/>
                  <a:cs typeface="Poppins"/>
                </a:rPr>
                <a:t>: Energy-Efficient Anomaly Detection for Edge Cybersecurity Using Neuromorphic Computing</a:t>
              </a:r>
              <a:endParaRPr lang="en-US">
                <a:solidFill>
                  <a:schemeClr val="dk1"/>
                </a:solidFill>
              </a:endParaRPr>
            </a:p>
          </p:txBody>
        </p:sp>
        <p:sp>
          <p:nvSpPr>
            <p:cNvPr id="74" name="TextBox 5"/>
            <p:cNvSpPr/>
            <p:nvPr/>
          </p:nvSpPr>
          <p:spPr>
            <a:xfrm>
              <a:off x="4808657" y="2343407"/>
              <a:ext cx="8670685" cy="4756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spc="-1">
                  <a:solidFill>
                    <a:srgbClr val="000000"/>
                  </a:solidFill>
                  <a:latin typeface="Poppins"/>
                  <a:cs typeface="Poppins"/>
                </a:rPr>
                <a:t>Introduction to Cyber Security | 19EAC401</a:t>
              </a:r>
              <a:endParaRPr lang="en-US" sz="2800" b="0" strike="noStrike" spc="-1">
                <a:solidFill>
                  <a:srgbClr val="000000"/>
                </a:solidFill>
                <a:latin typeface="Poppins"/>
                <a:cs typeface="Poppins"/>
              </a:endParaRPr>
            </a:p>
          </p:txBody>
        </p:sp>
      </p:grpSp>
      <p:sp>
        <p:nvSpPr>
          <p:cNvPr id="75" name="TextBox 6"/>
          <p:cNvSpPr/>
          <p:nvPr/>
        </p:nvSpPr>
        <p:spPr>
          <a:xfrm>
            <a:off x="6591600" y="5938388"/>
            <a:ext cx="5104080" cy="4095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endParaRPr lang="en-US" sz="2400" b="0" strike="noStrike" spc="-1">
              <a:solidFill>
                <a:srgbClr val="000000"/>
              </a:solidFill>
              <a:latin typeface="Poppins"/>
              <a:cs typeface="Poppins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914400" y="6982560"/>
            <a:ext cx="6857640" cy="128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59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Poppins"/>
                <a:ea typeface="Poppins"/>
              </a:rPr>
              <a:t>Team members: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3359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Poppins"/>
                <a:ea typeface="Poppins"/>
              </a:rPr>
              <a:t>Lasyapriya Bharadwaj K -  BL.EN.U4EAC22033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3359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Poppins"/>
                <a:ea typeface="Poppins"/>
              </a:rPr>
              <a:t>Shashank R - BL.EN.U4EAC22047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12192120" y="6982560"/>
            <a:ext cx="4266720" cy="12149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59"/>
              </a:lnSpc>
            </a:pPr>
            <a:r>
              <a:rPr lang="en-US" sz="2350" b="1" strike="noStrike" spc="-1">
                <a:solidFill>
                  <a:srgbClr val="000000"/>
                </a:solidFill>
                <a:latin typeface="Poppins"/>
                <a:ea typeface="Poppins"/>
              </a:rPr>
              <a:t>Faculty:</a:t>
            </a:r>
            <a:endParaRPr lang="en-US" sz="2350" b="0" strike="noStrike" spc="-1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en-US" sz="2400" spc="-1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Mr. Sagar B.</a:t>
            </a:r>
            <a:endParaRPr lang="en-US">
              <a:solidFill>
                <a:schemeClr val="dk1"/>
              </a:solidFill>
            </a:endParaRPr>
          </a:p>
          <a:p>
            <a:pPr algn="ctr" defTabSz="914400">
              <a:lnSpc>
                <a:spcPts val="3359"/>
              </a:lnSpc>
            </a:pPr>
            <a:r>
              <a:rPr lang="en-US" sz="2400" b="0" strike="noStrike" spc="-1">
                <a:solidFill>
                  <a:schemeClr val="dk1"/>
                </a:solidFill>
                <a:latin typeface="Poppins"/>
                <a:ea typeface="Poppins"/>
              </a:rPr>
              <a:t>Assistant Professor (Sr. Gd.) 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78" name="Picture 9" descr="A pink and black logo&#10;&#10;AI-generated content may be incorrect."/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4"/>
          <p:cNvGrpSpPr/>
          <p:nvPr/>
        </p:nvGrpSpPr>
        <p:grpSpPr>
          <a:xfrm>
            <a:off x="1403252" y="3143098"/>
            <a:ext cx="5258880" cy="710640"/>
            <a:chOff x="2895480" y="3467160"/>
            <a:chExt cx="5258880" cy="710640"/>
          </a:xfrm>
        </p:grpSpPr>
        <p:sp>
          <p:nvSpPr>
            <p:cNvPr id="80" name="TextBox 5"/>
            <p:cNvSpPr/>
            <p:nvPr/>
          </p:nvSpPr>
          <p:spPr>
            <a:xfrm>
              <a:off x="2895480" y="3467160"/>
              <a:ext cx="856080" cy="71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5598"/>
                </a:lnSpc>
                <a:tabLst>
                  <a:tab pos="0" algn="l"/>
                </a:tabLst>
              </a:pPr>
              <a:r>
                <a:rPr lang="en-US" sz="4000" b="0" strike="noStrike" spc="197">
                  <a:solidFill>
                    <a:srgbClr val="A79E9C"/>
                  </a:solidFill>
                  <a:latin typeface="Helios Extended Bold"/>
                  <a:ea typeface="Helios Extended Bold"/>
                </a:rPr>
                <a:t>01</a:t>
              </a:r>
              <a:endParaRPr lang="en-US" sz="4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TextBox 6"/>
            <p:cNvSpPr/>
            <p:nvPr/>
          </p:nvSpPr>
          <p:spPr>
            <a:xfrm>
              <a:off x="3751560" y="3611520"/>
              <a:ext cx="4402800" cy="48282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3920"/>
                </a:lnSpc>
                <a:tabLst>
                  <a:tab pos="0" algn="l"/>
                </a:tabLst>
              </a:pPr>
              <a:r>
                <a:rPr lang="en-US" sz="2800" strike="noStrike" spc="276" dirty="0">
                  <a:solidFill>
                    <a:srgbClr val="000000"/>
                  </a:solidFill>
                  <a:latin typeface="Heebo Bold"/>
                  <a:ea typeface="Heebo Bold"/>
                </a:rPr>
                <a:t>INTRODUCTION</a:t>
              </a:r>
              <a:endParaRPr lang="en-US" sz="2800" strike="noStrike" spc="-1" dirty="0">
                <a:solidFill>
                  <a:srgbClr val="000000"/>
                </a:solidFill>
                <a:latin typeface="Heebo Bold"/>
                <a:cs typeface="Poppins"/>
              </a:endParaRPr>
            </a:p>
          </p:txBody>
        </p:sp>
      </p:grpSp>
      <p:sp>
        <p:nvSpPr>
          <p:cNvPr id="82" name="TextBox 8"/>
          <p:cNvSpPr/>
          <p:nvPr/>
        </p:nvSpPr>
        <p:spPr>
          <a:xfrm>
            <a:off x="7531380" y="1708505"/>
            <a:ext cx="3225240" cy="78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160"/>
              </a:lnSpc>
              <a:tabLst>
                <a:tab pos="0" algn="l"/>
              </a:tabLst>
            </a:pPr>
            <a:r>
              <a:rPr lang="en-US" sz="4400" b="0" strike="noStrike" spc="219" dirty="0">
                <a:solidFill>
                  <a:srgbClr val="000000"/>
                </a:solidFill>
                <a:latin typeface="Poppins"/>
                <a:ea typeface="Poppins"/>
              </a:rPr>
              <a:t>CONTENTS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3" name="Group 10"/>
          <p:cNvGrpSpPr/>
          <p:nvPr/>
        </p:nvGrpSpPr>
        <p:grpSpPr>
          <a:xfrm>
            <a:off x="1403252" y="4003122"/>
            <a:ext cx="5258880" cy="710640"/>
            <a:chOff x="2895480" y="4697280"/>
            <a:chExt cx="5258880" cy="710640"/>
          </a:xfrm>
        </p:grpSpPr>
        <p:sp>
          <p:nvSpPr>
            <p:cNvPr id="84" name="TextBox 11"/>
            <p:cNvSpPr/>
            <p:nvPr/>
          </p:nvSpPr>
          <p:spPr>
            <a:xfrm>
              <a:off x="2895480" y="4697280"/>
              <a:ext cx="856080" cy="71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5598"/>
                </a:lnSpc>
                <a:tabLst>
                  <a:tab pos="0" algn="l"/>
                </a:tabLst>
              </a:pPr>
              <a:r>
                <a:rPr lang="en-US" sz="4000" b="0" strike="noStrike" spc="197">
                  <a:solidFill>
                    <a:srgbClr val="A79E9C"/>
                  </a:solidFill>
                  <a:latin typeface="Helios Extended Bold"/>
                  <a:ea typeface="Helios Extended Bold"/>
                </a:rPr>
                <a:t>02</a:t>
              </a:r>
              <a:endParaRPr lang="en-US" sz="4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TextBox 12"/>
            <p:cNvSpPr/>
            <p:nvPr/>
          </p:nvSpPr>
          <p:spPr>
            <a:xfrm>
              <a:off x="3751560" y="4843698"/>
              <a:ext cx="4402800" cy="49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3920"/>
                </a:lnSpc>
                <a:tabLst>
                  <a:tab pos="0" algn="l"/>
                </a:tabLst>
              </a:pPr>
              <a:r>
                <a:rPr lang="en-US" sz="2800" b="0" strike="noStrike" spc="276" dirty="0">
                  <a:solidFill>
                    <a:srgbClr val="000000"/>
                  </a:solidFill>
                  <a:latin typeface="Heebo Bold"/>
                  <a:ea typeface="Heebo Bold"/>
                </a:rPr>
                <a:t>MOTIVATION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6" name="Group 13"/>
          <p:cNvGrpSpPr/>
          <p:nvPr/>
        </p:nvGrpSpPr>
        <p:grpSpPr>
          <a:xfrm>
            <a:off x="1403252" y="4942862"/>
            <a:ext cx="5258880" cy="710640"/>
            <a:chOff x="2895480" y="5840280"/>
            <a:chExt cx="5258880" cy="710640"/>
          </a:xfrm>
        </p:grpSpPr>
        <p:sp>
          <p:nvSpPr>
            <p:cNvPr id="87" name="TextBox 14"/>
            <p:cNvSpPr/>
            <p:nvPr/>
          </p:nvSpPr>
          <p:spPr>
            <a:xfrm>
              <a:off x="2895480" y="5840280"/>
              <a:ext cx="856080" cy="71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5598"/>
                </a:lnSpc>
                <a:tabLst>
                  <a:tab pos="0" algn="l"/>
                </a:tabLst>
              </a:pPr>
              <a:r>
                <a:rPr lang="en-US" sz="4000" b="0" strike="noStrike" spc="197" dirty="0">
                  <a:solidFill>
                    <a:srgbClr val="A79E9C"/>
                  </a:solidFill>
                  <a:latin typeface="Helios Extended Bold"/>
                  <a:ea typeface="Helios Extended Bold"/>
                </a:rPr>
                <a:t>03</a:t>
              </a:r>
              <a:endParaRPr lang="en-US" sz="4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TextBox 15"/>
            <p:cNvSpPr/>
            <p:nvPr/>
          </p:nvSpPr>
          <p:spPr>
            <a:xfrm>
              <a:off x="3751560" y="5983726"/>
              <a:ext cx="4402800" cy="49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3920"/>
                </a:lnSpc>
                <a:tabLst>
                  <a:tab pos="0" algn="l"/>
                </a:tabLst>
              </a:pPr>
              <a:r>
                <a:rPr lang="en-US" sz="2800" b="0" strike="noStrike" spc="276" dirty="0">
                  <a:solidFill>
                    <a:srgbClr val="000000"/>
                  </a:solidFill>
                  <a:latin typeface="Heebo Bold"/>
                  <a:ea typeface="Heebo Bold"/>
                </a:rPr>
                <a:t>OBJECTIVES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9" name="Group 16"/>
          <p:cNvGrpSpPr/>
          <p:nvPr/>
        </p:nvGrpSpPr>
        <p:grpSpPr>
          <a:xfrm>
            <a:off x="1403252" y="5882602"/>
            <a:ext cx="5258880" cy="710640"/>
            <a:chOff x="2895480" y="7059600"/>
            <a:chExt cx="5258880" cy="710640"/>
          </a:xfrm>
        </p:grpSpPr>
        <p:sp>
          <p:nvSpPr>
            <p:cNvPr id="90" name="TextBox 17"/>
            <p:cNvSpPr/>
            <p:nvPr/>
          </p:nvSpPr>
          <p:spPr>
            <a:xfrm>
              <a:off x="2895480" y="7059600"/>
              <a:ext cx="856080" cy="71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5598"/>
                </a:lnSpc>
                <a:tabLst>
                  <a:tab pos="0" algn="l"/>
                </a:tabLst>
              </a:pPr>
              <a:r>
                <a:rPr lang="en-US" sz="4000" b="0" strike="noStrike" spc="197">
                  <a:solidFill>
                    <a:srgbClr val="A79E9C"/>
                  </a:solidFill>
                  <a:latin typeface="Helios Extended Bold"/>
                  <a:ea typeface="Helios Extended Bold"/>
                </a:rPr>
                <a:t>04</a:t>
              </a:r>
              <a:endParaRPr lang="en-US" sz="4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TextBox 18"/>
            <p:cNvSpPr/>
            <p:nvPr/>
          </p:nvSpPr>
          <p:spPr>
            <a:xfrm>
              <a:off x="3751560" y="7193428"/>
              <a:ext cx="4402800" cy="48282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3920"/>
                </a:lnSpc>
                <a:tabLst>
                  <a:tab pos="0" algn="l"/>
                </a:tabLst>
              </a:pPr>
              <a:r>
                <a:rPr lang="en-US" sz="2800" spc="-1" dirty="0">
                  <a:solidFill>
                    <a:srgbClr val="000000"/>
                  </a:solidFill>
                  <a:latin typeface="Heebo Bold" pitchFamily="2" charset="-79"/>
                  <a:cs typeface="Heebo Bold" pitchFamily="2" charset="-79"/>
                </a:rPr>
                <a:t>LITERATURE SURVEY</a:t>
              </a:r>
              <a:endParaRPr lang="en-US" sz="2800" b="0" strike="noStrike" spc="-1" dirty="0">
                <a:solidFill>
                  <a:srgbClr val="000000"/>
                </a:solidFill>
                <a:latin typeface="Heebo Bold" pitchFamily="2" charset="-79"/>
                <a:cs typeface="Heebo Bold" pitchFamily="2" charset="-79"/>
              </a:endParaRPr>
            </a:p>
          </p:txBody>
        </p:sp>
      </p:grpSp>
      <p:grpSp>
        <p:nvGrpSpPr>
          <p:cNvPr id="92" name="Group 19"/>
          <p:cNvGrpSpPr/>
          <p:nvPr/>
        </p:nvGrpSpPr>
        <p:grpSpPr>
          <a:xfrm>
            <a:off x="9928412" y="3143098"/>
            <a:ext cx="5329440" cy="710640"/>
            <a:chOff x="9829800" y="4697280"/>
            <a:chExt cx="5329440" cy="710640"/>
          </a:xfrm>
        </p:grpSpPr>
        <p:sp>
          <p:nvSpPr>
            <p:cNvPr id="93" name="TextBox 20"/>
            <p:cNvSpPr/>
            <p:nvPr/>
          </p:nvSpPr>
          <p:spPr>
            <a:xfrm>
              <a:off x="9829800" y="4697280"/>
              <a:ext cx="856080" cy="71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5598"/>
                </a:lnSpc>
                <a:tabLst>
                  <a:tab pos="0" algn="l"/>
                </a:tabLst>
              </a:pPr>
              <a:r>
                <a:rPr lang="en-US" sz="4000" b="0" strike="noStrike" spc="197" dirty="0">
                  <a:solidFill>
                    <a:srgbClr val="A79E9C"/>
                  </a:solidFill>
                  <a:latin typeface="Helios Extended Bold"/>
                  <a:ea typeface="Helios Extended Bold"/>
                </a:rPr>
                <a:t>06</a:t>
              </a:r>
              <a:endParaRPr lang="en-US" sz="4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TextBox 21"/>
            <p:cNvSpPr/>
            <p:nvPr/>
          </p:nvSpPr>
          <p:spPr>
            <a:xfrm>
              <a:off x="10756440" y="4796972"/>
              <a:ext cx="4402800" cy="49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3920"/>
                </a:lnSpc>
                <a:tabLst>
                  <a:tab pos="0" algn="l"/>
                </a:tabLst>
              </a:pPr>
              <a:r>
                <a:rPr lang="en-US" sz="2800" b="0" strike="noStrike" spc="276" dirty="0">
                  <a:solidFill>
                    <a:srgbClr val="000000"/>
                  </a:solidFill>
                  <a:latin typeface="Heebo Bold"/>
                  <a:ea typeface="Heebo Bold"/>
                </a:rPr>
                <a:t>METHODOLOGY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5" name="Picture 30" descr="A pink and black logo&#10;&#10;AI-generated content may be incorrect."/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grpSp>
        <p:nvGrpSpPr>
          <p:cNvPr id="96" name="Group 19"/>
          <p:cNvGrpSpPr/>
          <p:nvPr/>
        </p:nvGrpSpPr>
        <p:grpSpPr>
          <a:xfrm>
            <a:off x="1403252" y="6776135"/>
            <a:ext cx="7740748" cy="670055"/>
            <a:chOff x="9829800" y="3498480"/>
            <a:chExt cx="6912024" cy="670055"/>
          </a:xfrm>
        </p:grpSpPr>
        <p:sp>
          <p:nvSpPr>
            <p:cNvPr id="97" name="TextBox 20"/>
            <p:cNvSpPr/>
            <p:nvPr/>
          </p:nvSpPr>
          <p:spPr>
            <a:xfrm>
              <a:off x="9829800" y="3498480"/>
              <a:ext cx="568413" cy="6700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just" defTabSz="914400">
                <a:lnSpc>
                  <a:spcPts val="5598"/>
                </a:lnSpc>
                <a:tabLst>
                  <a:tab pos="0" algn="l"/>
                </a:tabLst>
              </a:pPr>
              <a:r>
                <a:rPr lang="en-US" sz="4000" b="0" strike="noStrike" spc="197" dirty="0">
                  <a:solidFill>
                    <a:srgbClr val="A79E9C"/>
                  </a:solidFill>
                  <a:latin typeface="Helios Extended Bold"/>
                  <a:ea typeface="Helios Extended Bold"/>
                </a:rPr>
                <a:t>05</a:t>
              </a:r>
              <a:endParaRPr lang="en-US" sz="4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TextBox 21"/>
            <p:cNvSpPr/>
            <p:nvPr/>
          </p:nvSpPr>
          <p:spPr>
            <a:xfrm>
              <a:off x="10601944" y="3611520"/>
              <a:ext cx="6139880" cy="48282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just" defTabSz="914400">
                <a:lnSpc>
                  <a:spcPts val="3920"/>
                </a:lnSpc>
                <a:tabLst>
                  <a:tab pos="0" algn="l"/>
                </a:tabLst>
              </a:pPr>
              <a:r>
                <a:rPr lang="en-US" sz="2800" b="0" strike="noStrike" spc="276" dirty="0">
                  <a:solidFill>
                    <a:srgbClr val="000000"/>
                  </a:solidFill>
                  <a:latin typeface="Heebo Bold"/>
                  <a:ea typeface="Heebo Bold"/>
                </a:rPr>
                <a:t>SUMMARY OF LITERATURE SURVEY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" name="Group 19"/>
          <p:cNvGrpSpPr/>
          <p:nvPr/>
        </p:nvGrpSpPr>
        <p:grpSpPr>
          <a:xfrm>
            <a:off x="9892703" y="3990805"/>
            <a:ext cx="6184662" cy="710640"/>
            <a:chOff x="9838440" y="5840280"/>
            <a:chExt cx="6184662" cy="710640"/>
          </a:xfrm>
        </p:grpSpPr>
        <p:sp>
          <p:nvSpPr>
            <p:cNvPr id="100" name="TextBox 20"/>
            <p:cNvSpPr/>
            <p:nvPr/>
          </p:nvSpPr>
          <p:spPr>
            <a:xfrm>
              <a:off x="9838440" y="5840280"/>
              <a:ext cx="856080" cy="71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5598"/>
                </a:lnSpc>
                <a:tabLst>
                  <a:tab pos="0" algn="l"/>
                </a:tabLst>
              </a:pPr>
              <a:r>
                <a:rPr lang="en-US" sz="4000" b="0" strike="noStrike" spc="197" dirty="0">
                  <a:solidFill>
                    <a:srgbClr val="A79E9C"/>
                  </a:solidFill>
                  <a:latin typeface="Helios Extended Bold"/>
                  <a:ea typeface="Helios Extended Bold"/>
                </a:rPr>
                <a:t>07</a:t>
              </a:r>
              <a:endParaRPr lang="en-US" sz="4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TextBox 21"/>
            <p:cNvSpPr/>
            <p:nvPr/>
          </p:nvSpPr>
          <p:spPr>
            <a:xfrm>
              <a:off x="10756440" y="5946840"/>
              <a:ext cx="5266662" cy="48282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just" defTabSz="914400">
                <a:lnSpc>
                  <a:spcPts val="3920"/>
                </a:lnSpc>
                <a:tabLst>
                  <a:tab pos="0" algn="l"/>
                </a:tabLst>
              </a:pPr>
              <a:r>
                <a:rPr lang="en-US" sz="2800" b="0" strike="noStrike" spc="276" dirty="0">
                  <a:solidFill>
                    <a:srgbClr val="000000"/>
                  </a:solidFill>
                  <a:latin typeface="Heebo Bold"/>
                  <a:ea typeface="Heebo Bold"/>
                </a:rPr>
                <a:t>RESULTS AND DISCUSSION 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" name="Group 19">
            <a:extLst>
              <a:ext uri="{FF2B5EF4-FFF2-40B4-BE49-F238E27FC236}">
                <a16:creationId xmlns:a16="http://schemas.microsoft.com/office/drawing/2014/main" id="{AB4B7D74-F284-FEAD-2E61-D7D5C9E465AA}"/>
              </a:ext>
            </a:extLst>
          </p:cNvPr>
          <p:cNvGrpSpPr/>
          <p:nvPr/>
        </p:nvGrpSpPr>
        <p:grpSpPr>
          <a:xfrm>
            <a:off x="9928412" y="4937244"/>
            <a:ext cx="7420348" cy="670055"/>
            <a:chOff x="9838440" y="5840280"/>
            <a:chExt cx="7420348" cy="670055"/>
          </a:xfrm>
        </p:grpSpPr>
        <p:sp>
          <p:nvSpPr>
            <p:cNvPr id="3" name="TextBox 20">
              <a:extLst>
                <a:ext uri="{FF2B5EF4-FFF2-40B4-BE49-F238E27FC236}">
                  <a16:creationId xmlns:a16="http://schemas.microsoft.com/office/drawing/2014/main" id="{BBB2CC2B-E339-9875-8B6A-755349B7BB2B}"/>
                </a:ext>
              </a:extLst>
            </p:cNvPr>
            <p:cNvSpPr/>
            <p:nvPr/>
          </p:nvSpPr>
          <p:spPr>
            <a:xfrm>
              <a:off x="9838440" y="5840280"/>
              <a:ext cx="856080" cy="6700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5598"/>
                </a:lnSpc>
                <a:tabLst>
                  <a:tab pos="0" algn="l"/>
                </a:tabLst>
              </a:pPr>
              <a:r>
                <a:rPr lang="en-US" sz="4000" b="0" strike="noStrike" spc="197" dirty="0">
                  <a:solidFill>
                    <a:srgbClr val="A79E9C"/>
                  </a:solidFill>
                  <a:latin typeface="Helios Extended Bold"/>
                  <a:ea typeface="Helios Extended Bold"/>
                </a:rPr>
                <a:t>08</a:t>
              </a:r>
              <a:endParaRPr lang="en-US" sz="4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" name="TextBox 21">
              <a:extLst>
                <a:ext uri="{FF2B5EF4-FFF2-40B4-BE49-F238E27FC236}">
                  <a16:creationId xmlns:a16="http://schemas.microsoft.com/office/drawing/2014/main" id="{78A1777D-22B6-C174-6F0D-89F4DD6C7207}"/>
                </a:ext>
              </a:extLst>
            </p:cNvPr>
            <p:cNvSpPr/>
            <p:nvPr/>
          </p:nvSpPr>
          <p:spPr>
            <a:xfrm>
              <a:off x="10756440" y="5946840"/>
              <a:ext cx="6502348" cy="48282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just" defTabSz="914400">
                <a:lnSpc>
                  <a:spcPts val="3920"/>
                </a:lnSpc>
                <a:tabLst>
                  <a:tab pos="0" algn="l"/>
                </a:tabLst>
              </a:pPr>
              <a:r>
                <a:rPr lang="en-US" sz="2800" b="0" strike="noStrike" spc="276" dirty="0">
                  <a:solidFill>
                    <a:srgbClr val="000000"/>
                  </a:solidFill>
                  <a:latin typeface="Heebo Bold"/>
                  <a:ea typeface="Heebo Bold"/>
                </a:rPr>
                <a:t>LIMITATIONS AND FUTURE WORK 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61276D9D-6EAB-56B2-6145-7301C111B6FC}"/>
              </a:ext>
            </a:extLst>
          </p:cNvPr>
          <p:cNvGrpSpPr/>
          <p:nvPr/>
        </p:nvGrpSpPr>
        <p:grpSpPr>
          <a:xfrm>
            <a:off x="9928412" y="5816882"/>
            <a:ext cx="3604708" cy="670055"/>
            <a:chOff x="9838440" y="5840280"/>
            <a:chExt cx="3604708" cy="670055"/>
          </a:xfrm>
        </p:grpSpPr>
        <p:sp>
          <p:nvSpPr>
            <p:cNvPr id="6" name="TextBox 20">
              <a:extLst>
                <a:ext uri="{FF2B5EF4-FFF2-40B4-BE49-F238E27FC236}">
                  <a16:creationId xmlns:a16="http://schemas.microsoft.com/office/drawing/2014/main" id="{2ACA42E1-2142-444C-4EE6-D03A4D4A0E7B}"/>
                </a:ext>
              </a:extLst>
            </p:cNvPr>
            <p:cNvSpPr/>
            <p:nvPr/>
          </p:nvSpPr>
          <p:spPr>
            <a:xfrm>
              <a:off x="9838440" y="5840280"/>
              <a:ext cx="856080" cy="6700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5598"/>
                </a:lnSpc>
                <a:tabLst>
                  <a:tab pos="0" algn="l"/>
                </a:tabLst>
              </a:pPr>
              <a:r>
                <a:rPr lang="en-US" sz="4000" b="0" strike="noStrike" spc="197" dirty="0">
                  <a:solidFill>
                    <a:srgbClr val="A79E9C"/>
                  </a:solidFill>
                  <a:latin typeface="Helios Extended Bold"/>
                  <a:ea typeface="Helios Extended Bold"/>
                </a:rPr>
                <a:t>0</a:t>
              </a:r>
              <a:r>
                <a:rPr lang="en-US" sz="4000" spc="197" dirty="0">
                  <a:solidFill>
                    <a:srgbClr val="A79E9C"/>
                  </a:solidFill>
                  <a:latin typeface="Helios Extended Bold"/>
                  <a:ea typeface="Helios Extended Bold"/>
                </a:rPr>
                <a:t>9</a:t>
              </a:r>
              <a:endParaRPr lang="en-US" sz="4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" name="TextBox 21">
              <a:extLst>
                <a:ext uri="{FF2B5EF4-FFF2-40B4-BE49-F238E27FC236}">
                  <a16:creationId xmlns:a16="http://schemas.microsoft.com/office/drawing/2014/main" id="{4886CB63-8CD6-79FF-8818-73D00A6FBCA1}"/>
                </a:ext>
              </a:extLst>
            </p:cNvPr>
            <p:cNvSpPr/>
            <p:nvPr/>
          </p:nvSpPr>
          <p:spPr>
            <a:xfrm>
              <a:off x="10756440" y="5946840"/>
              <a:ext cx="2686708" cy="48282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just" defTabSz="914400">
                <a:lnSpc>
                  <a:spcPts val="3920"/>
                </a:lnSpc>
                <a:tabLst>
                  <a:tab pos="0" algn="l"/>
                </a:tabLst>
              </a:pPr>
              <a:r>
                <a:rPr lang="en-US" sz="2800" b="0" strike="noStrike" spc="276" dirty="0">
                  <a:solidFill>
                    <a:srgbClr val="000000"/>
                  </a:solidFill>
                  <a:latin typeface="Heebo Bold"/>
                  <a:ea typeface="Heebo Bold"/>
                </a:rPr>
                <a:t>CONCLUSION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" name="Group 19">
            <a:extLst>
              <a:ext uri="{FF2B5EF4-FFF2-40B4-BE49-F238E27FC236}">
                <a16:creationId xmlns:a16="http://schemas.microsoft.com/office/drawing/2014/main" id="{B4305266-1B98-94F4-72DC-F0C23B73E95C}"/>
              </a:ext>
            </a:extLst>
          </p:cNvPr>
          <p:cNvGrpSpPr/>
          <p:nvPr/>
        </p:nvGrpSpPr>
        <p:grpSpPr>
          <a:xfrm>
            <a:off x="9928412" y="6771642"/>
            <a:ext cx="5095884" cy="670055"/>
            <a:chOff x="9838440" y="5840280"/>
            <a:chExt cx="5095884" cy="670055"/>
          </a:xfrm>
        </p:grpSpPr>
        <p:sp>
          <p:nvSpPr>
            <p:cNvPr id="12" name="TextBox 20">
              <a:extLst>
                <a:ext uri="{FF2B5EF4-FFF2-40B4-BE49-F238E27FC236}">
                  <a16:creationId xmlns:a16="http://schemas.microsoft.com/office/drawing/2014/main" id="{11A1FD92-769F-AD04-4412-F1BFDD8E6F2E}"/>
                </a:ext>
              </a:extLst>
            </p:cNvPr>
            <p:cNvSpPr/>
            <p:nvPr/>
          </p:nvSpPr>
          <p:spPr>
            <a:xfrm>
              <a:off x="9838440" y="5840280"/>
              <a:ext cx="856080" cy="6700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 defTabSz="914400">
                <a:lnSpc>
                  <a:spcPts val="5598"/>
                </a:lnSpc>
                <a:tabLst>
                  <a:tab pos="0" algn="l"/>
                </a:tabLst>
              </a:pPr>
              <a:r>
                <a:rPr lang="en-US" sz="4000" spc="197" dirty="0">
                  <a:solidFill>
                    <a:srgbClr val="A79E9C"/>
                  </a:solidFill>
                  <a:latin typeface="Helios Extended Bold"/>
                </a:rPr>
                <a:t>10</a:t>
              </a:r>
              <a:endParaRPr lang="en-US" sz="40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" name="TextBox 21">
              <a:extLst>
                <a:ext uri="{FF2B5EF4-FFF2-40B4-BE49-F238E27FC236}">
                  <a16:creationId xmlns:a16="http://schemas.microsoft.com/office/drawing/2014/main" id="{6CEB9620-BF39-EAF5-2B68-44277BFE0B96}"/>
                </a:ext>
              </a:extLst>
            </p:cNvPr>
            <p:cNvSpPr/>
            <p:nvPr/>
          </p:nvSpPr>
          <p:spPr>
            <a:xfrm>
              <a:off x="10756440" y="5946840"/>
              <a:ext cx="4177884" cy="48282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just" defTabSz="914400">
                <a:lnSpc>
                  <a:spcPts val="3920"/>
                </a:lnSpc>
                <a:tabLst>
                  <a:tab pos="0" algn="l"/>
                </a:tabLst>
              </a:pPr>
              <a:r>
                <a:rPr lang="en-US" sz="2800" b="0" strike="noStrike" spc="276" dirty="0">
                  <a:solidFill>
                    <a:srgbClr val="000000"/>
                  </a:solidFill>
                  <a:latin typeface="Heebo Bold"/>
                  <a:ea typeface="Heebo Bold"/>
                </a:rPr>
                <a:t>LIST OF REFERENCES</a:t>
              </a:r>
              <a:endParaRPr lang="en-US" sz="2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E0D21D7-B9B9-3559-E61C-FF8F683FD10F}"/>
              </a:ext>
            </a:extLst>
          </p:cNvPr>
          <p:cNvGrpSpPr/>
          <p:nvPr/>
        </p:nvGrpSpPr>
        <p:grpSpPr>
          <a:xfrm>
            <a:off x="914400" y="1918607"/>
            <a:ext cx="16446780" cy="6445782"/>
            <a:chOff x="914400" y="1485720"/>
            <a:chExt cx="16446780" cy="6445782"/>
          </a:xfrm>
        </p:grpSpPr>
        <p:sp>
          <p:nvSpPr>
            <p:cNvPr id="102" name="TextBox 4"/>
            <p:cNvSpPr/>
            <p:nvPr/>
          </p:nvSpPr>
          <p:spPr>
            <a:xfrm>
              <a:off x="926820" y="2437754"/>
              <a:ext cx="16434360" cy="549374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The project addresses the rapidly expanding field of Internet of Things (IoT) network security, a domain increasingly vulnerable due to the proliferation of connected devices, forecasted to reach nearly 80 billion globally by 2024.​ [1]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IoT networks are exposed to sophisticated attacks such as botnets, DDoS, reconnaissance, data theft, and keylogging, which can lead to severe breaches and operational disruption.​​ [1]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The Bot-IoT dataset forms the backbone of experimental setup, containing over 72 million records spanning various attacks and benign network traffic.​​ [2]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Analysis of the Bot-IoT dataset shows extreme imbalance—common attacks vastly outweigh normal traffic, e.g., a 1:4038 ratio for certain major attacks—posing a significant challenge for accurate, generalizable detection.​​ [2]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The project aims to design and implement a real-time Intrusion Detection System (IDS) leveraging Spiking Neural Networks (SNN) and classical ensemble classifiers for robust IoT defense.​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SNNs are biologically inspired neural models that process network data in an energy-efficient, event-driven manner, ideal for resource-constrained IoT deployments.​​</a:t>
              </a:r>
            </a:p>
          </p:txBody>
        </p:sp>
        <p:sp>
          <p:nvSpPr>
            <p:cNvPr id="103" name="TextBox 6"/>
            <p:cNvSpPr/>
            <p:nvPr/>
          </p:nvSpPr>
          <p:spPr>
            <a:xfrm>
              <a:off x="914400" y="1485720"/>
              <a:ext cx="4627080" cy="74770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b="0" strike="noStrike" spc="219">
                  <a:solidFill>
                    <a:srgbClr val="000000"/>
                  </a:solidFill>
                  <a:latin typeface="Poppins"/>
                  <a:ea typeface="Poppins"/>
                </a:rPr>
                <a:t>INTRODUCTION </a:t>
              </a:r>
              <a:endParaRPr lang="en-US" sz="4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04" name="Picture 7" descr="A pink and black logo&#10;&#10;AI-generated content may be incorrect."/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0F21C-726D-DA4F-4447-A03E3E09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94264D8-B2C8-6E36-BF08-6E8A08720BBE}"/>
              </a:ext>
            </a:extLst>
          </p:cNvPr>
          <p:cNvGrpSpPr/>
          <p:nvPr/>
        </p:nvGrpSpPr>
        <p:grpSpPr>
          <a:xfrm>
            <a:off x="926820" y="2408464"/>
            <a:ext cx="16434360" cy="5482639"/>
            <a:chOff x="926820" y="1485720"/>
            <a:chExt cx="16434360" cy="5482639"/>
          </a:xfrm>
        </p:grpSpPr>
        <p:sp>
          <p:nvSpPr>
            <p:cNvPr id="102" name="TextBox 4">
              <a:extLst>
                <a:ext uri="{FF2B5EF4-FFF2-40B4-BE49-F238E27FC236}">
                  <a16:creationId xmlns:a16="http://schemas.microsoft.com/office/drawing/2014/main" id="{2D96DA93-FC58-E117-3655-6D602A6DB7AC}"/>
                </a:ext>
              </a:extLst>
            </p:cNvPr>
            <p:cNvSpPr/>
            <p:nvPr/>
          </p:nvSpPr>
          <p:spPr>
            <a:xfrm>
              <a:off x="926820" y="2395312"/>
              <a:ext cx="16434360" cy="457304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The system pipeline includes preprocessing (feature selection, encoding, normalization), dataset balancing/augmentation (using SMOTE for minority class support), multi-model training, and live prediction using edge device simulations.​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Normal and attack traffic are generated in realistic conditions via containerized edge devices and host-based attack simulations, ensuring diversity and reliability for model evaluation.​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Prediction results are visualized in real time through a responsive dashboard, providing actionable alerts and network analytics to security analysts.​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The project delivers high classification accuracy for both attack and benign traffic—SNN reaches over </a:t>
              </a:r>
              <a:r>
                <a:rPr lang="en-US" sz="2000" b="1">
                  <a:latin typeface="Poppins"/>
                  <a:cs typeface="Poppins"/>
                </a:rPr>
                <a:t>96%</a:t>
              </a:r>
              <a:r>
                <a:rPr lang="en-US" sz="2000">
                  <a:latin typeface="Poppins"/>
                  <a:cs typeface="Poppins"/>
                </a:rPr>
                <a:t> F1-score after augmentation, while ensemble models exceed </a:t>
              </a:r>
              <a:r>
                <a:rPr lang="en-US" sz="2000" b="1">
                  <a:latin typeface="Poppins"/>
                  <a:cs typeface="Poppins"/>
                </a:rPr>
                <a:t>99%</a:t>
              </a:r>
              <a:r>
                <a:rPr lang="en-US" sz="2000">
                  <a:latin typeface="Poppins"/>
                  <a:cs typeface="Poppins"/>
                </a:rPr>
                <a:t> on balanced datasets.​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This framework advances existing research by overcoming class imbalance and operational constraints, supporting practical IDS deployment in modern IoT networks.</a:t>
              </a:r>
            </a:p>
          </p:txBody>
        </p:sp>
        <p:sp>
          <p:nvSpPr>
            <p:cNvPr id="103" name="TextBox 6">
              <a:extLst>
                <a:ext uri="{FF2B5EF4-FFF2-40B4-BE49-F238E27FC236}">
                  <a16:creationId xmlns:a16="http://schemas.microsoft.com/office/drawing/2014/main" id="{41F97202-B87B-19F2-8ED2-F8ABEE2B5DD7}"/>
                </a:ext>
              </a:extLst>
            </p:cNvPr>
            <p:cNvSpPr/>
            <p:nvPr/>
          </p:nvSpPr>
          <p:spPr>
            <a:xfrm>
              <a:off x="939240" y="1485720"/>
              <a:ext cx="5714778" cy="74770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 defTabSz="914400"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b="0" strike="noStrike" spc="219">
                  <a:solidFill>
                    <a:srgbClr val="000000"/>
                  </a:solidFill>
                  <a:latin typeface="Poppins"/>
                  <a:ea typeface="Poppins"/>
                </a:rPr>
                <a:t>INTRODUCTION </a:t>
              </a:r>
              <a:r>
                <a:rPr lang="en-US" sz="2000" b="0" strike="noStrike" spc="219">
                  <a:solidFill>
                    <a:srgbClr val="000000"/>
                  </a:solidFill>
                  <a:latin typeface="Poppins"/>
                  <a:ea typeface="Poppins"/>
                </a:rPr>
                <a:t>contd. </a:t>
              </a:r>
              <a:endParaRPr lang="en-US" sz="2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04" name="Picture 7" descr="A pink and black logo&#10;&#10;AI-generated content may be incorrect.">
            <a:extLst>
              <a:ext uri="{FF2B5EF4-FFF2-40B4-BE49-F238E27FC236}">
                <a16:creationId xmlns:a16="http://schemas.microsoft.com/office/drawing/2014/main" id="{7BF59FEE-A6F7-A2FD-16BC-35F693095FC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507509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2EB52BE-3B0C-792F-5AE3-4A7D8A9D5FD7}"/>
              </a:ext>
            </a:extLst>
          </p:cNvPr>
          <p:cNvGrpSpPr/>
          <p:nvPr/>
        </p:nvGrpSpPr>
        <p:grpSpPr>
          <a:xfrm>
            <a:off x="933840" y="2632982"/>
            <a:ext cx="15525360" cy="5023549"/>
            <a:chOff x="933840" y="2743200"/>
            <a:chExt cx="15525360" cy="5023549"/>
          </a:xfrm>
        </p:grpSpPr>
        <p:sp>
          <p:nvSpPr>
            <p:cNvPr id="106" name="TextBox 5"/>
            <p:cNvSpPr/>
            <p:nvPr/>
          </p:nvSpPr>
          <p:spPr>
            <a:xfrm>
              <a:off x="933840" y="2743200"/>
              <a:ext cx="3790440" cy="78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b="0" strike="noStrike" spc="219">
                  <a:solidFill>
                    <a:srgbClr val="000000"/>
                  </a:solidFill>
                  <a:latin typeface="Poppins"/>
                  <a:ea typeface="Poppins"/>
                </a:rPr>
                <a:t>MOTIVATION</a:t>
              </a:r>
              <a:endParaRPr lang="en-US" sz="4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TextBox 7"/>
            <p:cNvSpPr/>
            <p:nvPr/>
          </p:nvSpPr>
          <p:spPr>
            <a:xfrm>
              <a:off x="933840" y="3886200"/>
              <a:ext cx="15525360" cy="388054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spcAft>
                  <a:spcPts val="575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2000" dirty="0">
                  <a:latin typeface="Poppins"/>
                  <a:cs typeface="Poppins"/>
                </a:rPr>
                <a:t>The exponential growth of Internet of Things (IoT) devices—forecasted to reach 80 billion by 2024—has dramatically expanded the attack surface for cyber threats in modern networks. [1]</a:t>
              </a:r>
              <a:endParaRPr lang="en-US" sz="2000" dirty="0">
                <a:latin typeface="Poppins"/>
                <a:ea typeface="Calibri"/>
                <a:cs typeface="Poppins"/>
              </a:endParaRPr>
            </a:p>
            <a:p>
              <a:pPr marL="342900" indent="-342900" algn="just">
                <a:lnSpc>
                  <a:spcPct val="150000"/>
                </a:lnSpc>
                <a:spcAft>
                  <a:spcPts val="575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2000" dirty="0">
                  <a:latin typeface="Poppins"/>
                  <a:cs typeface="Poppins"/>
                </a:rPr>
                <a:t>IoT botnet attacks cause massive security breaches and operational disruptions, highlighting the urgent need for adaptive, scalable intrusion detection systems tailored to heterogeneous smart environments. </a:t>
              </a:r>
            </a:p>
            <a:p>
              <a:pPr marL="342900" indent="-342900" algn="just">
                <a:lnSpc>
                  <a:spcPct val="150000"/>
                </a:lnSpc>
                <a:spcAft>
                  <a:spcPts val="575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2000" dirty="0">
                  <a:latin typeface="Poppins"/>
                  <a:cs typeface="Poppins"/>
                </a:rPr>
                <a:t>Conventional Intrusion Detection Systems (IDS) often struggle to balance high detection rates with low false positives, especially given class imbalance and realistic deployment scenarios. [3]</a:t>
              </a:r>
            </a:p>
            <a:p>
              <a:pPr marL="342900" indent="-342900" algn="just">
                <a:lnSpc>
                  <a:spcPct val="150000"/>
                </a:lnSpc>
                <a:spcAft>
                  <a:spcPts val="575"/>
                </a:spcAft>
                <a:buClr>
                  <a:srgbClr val="000000"/>
                </a:buClr>
                <a:buFont typeface="Arial"/>
                <a:buChar char="•"/>
              </a:pPr>
              <a:r>
                <a:rPr lang="en-US" sz="2000" dirty="0">
                  <a:latin typeface="Poppins"/>
                  <a:cs typeface="Poppins"/>
                </a:rPr>
                <a:t>This project addresses these gaps with an advanced framework integrating Spiking Neural Networks (SNN) and ensemble classifiers for robust IoT security.</a:t>
              </a:r>
              <a:endParaRPr lang="en-US" sz="2000" b="0" strike="noStrike" spc="-1" dirty="0">
                <a:solidFill>
                  <a:srgbClr val="000000"/>
                </a:solidFill>
                <a:latin typeface="Poppins"/>
                <a:cs typeface="Poppins"/>
              </a:endParaRPr>
            </a:p>
          </p:txBody>
        </p:sp>
      </p:grpSp>
      <p:pic>
        <p:nvPicPr>
          <p:cNvPr id="108" name="Picture 7" descr="A pink and black logo&#10;&#10;AI-generated content may be incorrect."/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1349BB-203A-CD5A-8960-1733E02F66B9}"/>
              </a:ext>
            </a:extLst>
          </p:cNvPr>
          <p:cNvGrpSpPr/>
          <p:nvPr/>
        </p:nvGrpSpPr>
        <p:grpSpPr>
          <a:xfrm>
            <a:off x="885960" y="1687286"/>
            <a:ext cx="16248600" cy="6914513"/>
            <a:chOff x="885960" y="1485720"/>
            <a:chExt cx="16248600" cy="6914513"/>
          </a:xfrm>
        </p:grpSpPr>
        <p:sp>
          <p:nvSpPr>
            <p:cNvPr id="109" name="TextBox 6"/>
            <p:cNvSpPr/>
            <p:nvPr/>
          </p:nvSpPr>
          <p:spPr>
            <a:xfrm>
              <a:off x="909720" y="2344201"/>
              <a:ext cx="16224840" cy="134139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To design and implement an energy-efficient anomaly detection system for IoT edge devices using neuromorphic computing. By leveraging spiking neural networks (SNN), the system will detect cyber threats in real-time with minimal power consumption, ensuring scalability and resilience for resource constrained environments.</a:t>
              </a:r>
              <a:endParaRPr lang="en-US" sz="2000">
                <a:latin typeface="Poppins"/>
                <a:ea typeface="Calibri"/>
                <a:cs typeface="Poppins"/>
              </a:endParaRPr>
            </a:p>
          </p:txBody>
        </p:sp>
        <p:grpSp>
          <p:nvGrpSpPr>
            <p:cNvPr id="110" name="Group 7"/>
            <p:cNvGrpSpPr/>
            <p:nvPr/>
          </p:nvGrpSpPr>
          <p:grpSpPr>
            <a:xfrm>
              <a:off x="904320" y="3953886"/>
              <a:ext cx="16230240" cy="4446347"/>
              <a:chOff x="885960" y="3619440"/>
              <a:chExt cx="16230240" cy="4446347"/>
            </a:xfrm>
          </p:grpSpPr>
          <p:sp>
            <p:nvSpPr>
              <p:cNvPr id="111" name="TextBox 8"/>
              <p:cNvSpPr/>
              <p:nvPr/>
            </p:nvSpPr>
            <p:spPr>
              <a:xfrm>
                <a:off x="896113" y="3619440"/>
                <a:ext cx="3370011" cy="511679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0" tIns="0" rIns="0" bIns="0" anchor="t">
                <a:spAutoFit/>
              </a:bodyPr>
              <a:lstStyle/>
              <a:p>
                <a:pPr defTabSz="914400">
                  <a:lnSpc>
                    <a:spcPts val="4201"/>
                  </a:lnSpc>
                </a:pPr>
                <a:r>
                  <a:rPr lang="en-US" sz="3000" spc="-1">
                    <a:solidFill>
                      <a:srgbClr val="000000"/>
                    </a:solidFill>
                    <a:latin typeface="Poppins"/>
                    <a:cs typeface="Poppins"/>
                  </a:rPr>
                  <a:t>SUB-OBJECTIVES</a:t>
                </a:r>
                <a:endParaRPr lang="en-US" sz="3000" b="0" strike="noStrike" spc="-1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12" name="TextBox 9"/>
              <p:cNvSpPr/>
              <p:nvPr/>
            </p:nvSpPr>
            <p:spPr>
              <a:xfrm>
                <a:off x="885960" y="4207680"/>
                <a:ext cx="16230240" cy="3858107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marL="727075" lvl="1" indent="-457200" algn="just">
                  <a:lnSpc>
                    <a:spcPts val="3498"/>
                  </a:lnSpc>
                  <a:spcAft>
                    <a:spcPts val="575"/>
                  </a:spcAft>
                  <a:buClr>
                    <a:srgbClr val="1B1C1D"/>
                  </a:buClr>
                  <a:buFont typeface="Calibri"/>
                  <a:buAutoNum type="arabicPeriod"/>
                </a:pPr>
                <a:r>
                  <a:rPr lang="en-US" sz="2000">
                    <a:latin typeface="Poppins"/>
                    <a:cs typeface="Poppins"/>
                  </a:rPr>
                  <a:t>To preprocess and convert cybersecurity datasets into event-based formats compatible with spiking neural networks (SNNs) for efficient anomaly detection.</a:t>
                </a:r>
              </a:p>
              <a:p>
                <a:pPr marL="727075" lvl="1" indent="-457200" algn="just">
                  <a:lnSpc>
                    <a:spcPts val="3498"/>
                  </a:lnSpc>
                  <a:spcAft>
                    <a:spcPts val="575"/>
                  </a:spcAft>
                  <a:buClr>
                    <a:srgbClr val="1B1C1D"/>
                  </a:buClr>
                  <a:buFont typeface="Calibri"/>
                  <a:buAutoNum type="arabicPeriod"/>
                </a:pPr>
                <a:r>
                  <a:rPr lang="en-US" sz="2000">
                    <a:latin typeface="Poppins"/>
                    <a:cs typeface="Poppins"/>
                  </a:rPr>
                  <a:t>To design and train SNN models to classify network anomalies with high accuracy, leveraging neuromorphic simulation tools. </a:t>
                </a:r>
              </a:p>
              <a:p>
                <a:pPr marL="727075" lvl="1" indent="-457200" algn="just">
                  <a:lnSpc>
                    <a:spcPts val="3498"/>
                  </a:lnSpc>
                  <a:spcAft>
                    <a:spcPts val="575"/>
                  </a:spcAft>
                  <a:buClr>
                    <a:srgbClr val="1B1C1D"/>
                  </a:buClr>
                  <a:buFont typeface="Calibri"/>
                  <a:buAutoNum type="arabicPeriod"/>
                </a:pPr>
                <a:r>
                  <a:rPr lang="en-US" sz="2000">
                    <a:latin typeface="Poppins"/>
                    <a:cs typeface="Poppins"/>
                  </a:rPr>
                  <a:t>To integrate the SNN-based detection system with emulated IoT edge devices to process live data streams in real-time. </a:t>
                </a:r>
              </a:p>
              <a:p>
                <a:pPr marL="727075" lvl="1" indent="-457200" algn="just">
                  <a:lnSpc>
                    <a:spcPts val="3498"/>
                  </a:lnSpc>
                  <a:spcAft>
                    <a:spcPts val="575"/>
                  </a:spcAft>
                  <a:buClr>
                    <a:srgbClr val="1B1C1D"/>
                  </a:buClr>
                  <a:buFont typeface="Calibri"/>
                  <a:buAutoNum type="arabicPeriod"/>
                </a:pPr>
                <a:r>
                  <a:rPr lang="en-US" sz="2000">
                    <a:latin typeface="Poppins"/>
                    <a:cs typeface="Poppins"/>
                  </a:rPr>
                  <a:t>To optimize the system for low power consumption through sparse computation techniques, targeting sub-operation.</a:t>
                </a:r>
              </a:p>
              <a:p>
                <a:pPr marL="727075" lvl="1" indent="-457200" algn="just">
                  <a:lnSpc>
                    <a:spcPts val="3498"/>
                  </a:lnSpc>
                  <a:spcAft>
                    <a:spcPts val="575"/>
                  </a:spcAft>
                  <a:buClr>
                    <a:srgbClr val="1B1C1D"/>
                  </a:buClr>
                  <a:buFont typeface="Calibri"/>
                  <a:buAutoNum type="arabicPeriod"/>
                </a:pPr>
                <a:r>
                  <a:rPr lang="en-US" sz="2000">
                    <a:latin typeface="Poppins"/>
                    <a:cs typeface="Poppins"/>
                  </a:rPr>
                  <a:t> To develop a lightweight dashboard for visualizing anomalies and deploy the system in a containerized environment for scalability. </a:t>
                </a:r>
              </a:p>
            </p:txBody>
          </p:sp>
        </p:grpSp>
        <p:sp>
          <p:nvSpPr>
            <p:cNvPr id="113" name="TextBox 11"/>
            <p:cNvSpPr/>
            <p:nvPr/>
          </p:nvSpPr>
          <p:spPr>
            <a:xfrm>
              <a:off x="885960" y="1485720"/>
              <a:ext cx="3202560" cy="78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b="0" strike="noStrike" spc="219">
                  <a:solidFill>
                    <a:srgbClr val="000000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</a:rPr>
                <a:t>OBJECTIVE</a:t>
              </a:r>
              <a:endParaRPr lang="en-US" sz="4400" b="0" strike="noStrike" spc="-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114" name="Picture 12" descr="A pink and black logo&#10;&#10;AI-generated content may be incorrect."/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6F0B3-2341-536C-C87A-E8AD34264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ED70529D-6C0C-435F-A790-8C9EECF2360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255F579-776E-17AB-4417-DE826C6BB8B3}"/>
              </a:ext>
            </a:extLst>
          </p:cNvPr>
          <p:cNvGrpSpPr/>
          <p:nvPr/>
        </p:nvGrpSpPr>
        <p:grpSpPr>
          <a:xfrm>
            <a:off x="904320" y="1035849"/>
            <a:ext cx="16224840" cy="8215302"/>
            <a:chOff x="904320" y="651545"/>
            <a:chExt cx="16224840" cy="8215302"/>
          </a:xfrm>
        </p:grpSpPr>
        <p:sp>
          <p:nvSpPr>
            <p:cNvPr id="109" name="TextBox 6">
              <a:extLst>
                <a:ext uri="{FF2B5EF4-FFF2-40B4-BE49-F238E27FC236}">
                  <a16:creationId xmlns:a16="http://schemas.microsoft.com/office/drawing/2014/main" id="{09B767C3-DE0D-4909-5B0E-267B449EC6A5}"/>
                </a:ext>
              </a:extLst>
            </p:cNvPr>
            <p:cNvSpPr/>
            <p:nvPr/>
          </p:nvSpPr>
          <p:spPr>
            <a:xfrm>
              <a:off x="904320" y="1600904"/>
              <a:ext cx="16224840" cy="172354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r>
                <a:rPr lang="en-US" sz="2000" b="1" strike="noStrike" spc="-1" dirty="0">
                  <a:latin typeface="Poppins"/>
                  <a:cs typeface="Poppins"/>
                </a:rPr>
                <a:t>1. </a:t>
              </a:r>
              <a:r>
                <a:rPr lang="en-US" sz="2000" b="1" spc="-1" dirty="0" err="1">
                  <a:latin typeface="Poppins"/>
                  <a:cs typeface="Poppins"/>
                </a:rPr>
                <a:t>Khaleefah</a:t>
              </a:r>
              <a:r>
                <a:rPr lang="en-US" sz="2000" b="1" spc="-1" dirty="0">
                  <a:latin typeface="Poppins"/>
                  <a:cs typeface="Poppins"/>
                </a:rPr>
                <a:t> et al., Informatica, 2023 – “Detection of IoT Botnet Cyber Attacks using ML” </a:t>
              </a:r>
              <a:br>
                <a:rPr lang="en-US" sz="2000" b="1" dirty="0">
                  <a:latin typeface="Poppins"/>
                  <a:cs typeface="Poppins"/>
                </a:rPr>
              </a:br>
              <a:endParaRPr lang="en-US" sz="2000" b="1" dirty="0">
                <a:latin typeface="Poppins"/>
                <a:ea typeface="Calibri"/>
                <a:cs typeface="Poppins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ea typeface="+mn-lt"/>
                  <a:cs typeface="Poppins"/>
                </a:rPr>
                <a:t>Explores detection of botnet cyber attacks using classical ML models on the Bot-IoT dataset, highlighting the skewed nature of attack types and the challenges of achieving class balance.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ea typeface="+mn-lt"/>
                  <a:cs typeface="Poppins"/>
                </a:rPr>
                <a:t>Key findings suggest high performance for majority attack classes, but significant shortcomings for normal and rare samples.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ea typeface="+mn-lt"/>
                  <a:cs typeface="Poppins"/>
                </a:rPr>
                <a:t>The study stops short of energy-efficient modeling and does not leverage neuromorphic approaches. </a:t>
              </a:r>
              <a:endParaRPr lang="en-US" dirty="0">
                <a:latin typeface="Poppins"/>
                <a:ea typeface="Calibri"/>
                <a:cs typeface="Poppins"/>
              </a:endParaRPr>
            </a:p>
          </p:txBody>
        </p:sp>
        <p:sp>
          <p:nvSpPr>
            <p:cNvPr id="113" name="TextBox 11">
              <a:extLst>
                <a:ext uri="{FF2B5EF4-FFF2-40B4-BE49-F238E27FC236}">
                  <a16:creationId xmlns:a16="http://schemas.microsoft.com/office/drawing/2014/main" id="{6E61892E-6838-24BC-6762-F2A3DF20A34B}"/>
                </a:ext>
              </a:extLst>
            </p:cNvPr>
            <p:cNvSpPr/>
            <p:nvPr/>
          </p:nvSpPr>
          <p:spPr>
            <a:xfrm>
              <a:off x="904320" y="651545"/>
              <a:ext cx="5528908" cy="75430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 defTabSz="914400"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b="0" strike="noStrike" spc="-1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LITERATURE SURVEY</a:t>
              </a:r>
            </a:p>
          </p:txBody>
        </p:sp>
        <p:sp>
          <p:nvSpPr>
            <p:cNvPr id="2" name="TextBox 6">
              <a:extLst>
                <a:ext uri="{FF2B5EF4-FFF2-40B4-BE49-F238E27FC236}">
                  <a16:creationId xmlns:a16="http://schemas.microsoft.com/office/drawing/2014/main" id="{5A9B8A19-25B0-5C3E-5C8F-A7581AE00190}"/>
                </a:ext>
              </a:extLst>
            </p:cNvPr>
            <p:cNvSpPr/>
            <p:nvPr/>
          </p:nvSpPr>
          <p:spPr>
            <a:xfrm>
              <a:off x="904320" y="3694993"/>
              <a:ext cx="16224840" cy="283154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r>
                <a:rPr lang="en-US" sz="2000" b="1" dirty="0">
                  <a:solidFill>
                    <a:srgbClr val="000000"/>
                  </a:solidFill>
                  <a:latin typeface="Poppins"/>
                  <a:cs typeface="Poppins"/>
                </a:rPr>
                <a:t>2.</a:t>
              </a:r>
              <a:r>
                <a:rPr lang="en-US" sz="2000" b="1" strike="noStrike" dirty="0">
                  <a:solidFill>
                    <a:srgbClr val="000000"/>
                  </a:solidFill>
                  <a:latin typeface="Poppins"/>
                  <a:cs typeface="Poppins"/>
                </a:rPr>
                <a:t> </a:t>
              </a:r>
              <a:r>
                <a:rPr lang="en-US" sz="2000" b="1" dirty="0">
                  <a:latin typeface="Poppins"/>
                  <a:cs typeface="Poppins"/>
                </a:rPr>
                <a:t>Rahman et al., Elsevier, 2025 – “A survey on intrusion detection system in IoT networks”</a:t>
              </a:r>
              <a:br>
                <a:rPr lang="en-US" sz="2000" b="1" dirty="0"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n-US" sz="2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This paper presents a comprehensive survey of intrusion detection systems, focusing on the architecture and deployment scenarios for IoT environments.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Key contributions include a taxonomy of IDS approaches (signature-based, anomaly-based, and hybrid), evaluation of their advantages and limitations for resource-constrained IoT devices, and analysis of best practices in anomaly detection. 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Notably, the authors emphasize the difficulty of balancing detection accuracy against operational constraints such as latency and battery life in large-scale IoT deployments.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A limitation is the lack of coverage on the use of neuromorphic models like Spiking Neural Networks (SNN), which have shown energy efficiency and adaptability in recent research.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" name="TextBox 6">
              <a:extLst>
                <a:ext uri="{FF2B5EF4-FFF2-40B4-BE49-F238E27FC236}">
                  <a16:creationId xmlns:a16="http://schemas.microsoft.com/office/drawing/2014/main" id="{02AABD18-4808-BFF0-8001-AC5CF1E3151A}"/>
                </a:ext>
              </a:extLst>
            </p:cNvPr>
            <p:cNvSpPr/>
            <p:nvPr/>
          </p:nvSpPr>
          <p:spPr>
            <a:xfrm>
              <a:off x="904320" y="6897077"/>
              <a:ext cx="16224840" cy="196977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r>
                <a:rPr lang="en-US" sz="2000" b="1" dirty="0">
                  <a:latin typeface="Poppins"/>
                  <a:cs typeface="Poppins"/>
                </a:rPr>
                <a:t>3. Amine et al., Nature, 2025 – “Improved model for intrusion detection in the Internet of Things”</a:t>
              </a:r>
              <a:br>
                <a:rPr lang="en-US" sz="2000" b="1" dirty="0"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The authors develop advanced deep learning architectures for IoT IDS, arguing for their superior accuracy and generalization.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The model leverages convolutional layers for feature extraction and Gated Recurrent Units (GRUs) for learning temporal patterns in network traffic.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Experimental results demonstrate that the proposed framework outperforms traditional classifiers on multiple synthetic IoT datasets.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However, scalability and validation across diverse, real-world IoT networks remain unresolved, restricting practical deployment.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999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A9FBA-7F72-9859-A418-8091B3E7F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F0B30668-CB35-0F8E-E2F7-F048938C767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3CD7E67-3CF2-98E6-A6CD-1E3BF60F852E}"/>
              </a:ext>
            </a:extLst>
          </p:cNvPr>
          <p:cNvGrpSpPr/>
          <p:nvPr/>
        </p:nvGrpSpPr>
        <p:grpSpPr>
          <a:xfrm>
            <a:off x="904320" y="1406833"/>
            <a:ext cx="16224840" cy="7473334"/>
            <a:chOff x="904320" y="651545"/>
            <a:chExt cx="16224840" cy="7473334"/>
          </a:xfrm>
        </p:grpSpPr>
        <p:sp>
          <p:nvSpPr>
            <p:cNvPr id="109" name="TextBox 6">
              <a:extLst>
                <a:ext uri="{FF2B5EF4-FFF2-40B4-BE49-F238E27FC236}">
                  <a16:creationId xmlns:a16="http://schemas.microsoft.com/office/drawing/2014/main" id="{4F1B3A30-B8B0-CC56-8B1F-5F9ABDDAF64A}"/>
                </a:ext>
              </a:extLst>
            </p:cNvPr>
            <p:cNvSpPr/>
            <p:nvPr/>
          </p:nvSpPr>
          <p:spPr>
            <a:xfrm>
              <a:off x="904320" y="1821336"/>
              <a:ext cx="16224840" cy="169277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r>
                <a:rPr lang="en-US" sz="2000" b="1" dirty="0">
                  <a:latin typeface="Poppins"/>
                  <a:cs typeface="Poppins"/>
                </a:rPr>
                <a:t>4. </a:t>
              </a:r>
              <a:r>
                <a:rPr lang="en-US" sz="2000" b="1" dirty="0" err="1">
                  <a:latin typeface="Poppins"/>
                  <a:cs typeface="Poppins"/>
                </a:rPr>
                <a:t>Alosaimi</a:t>
              </a:r>
              <a:r>
                <a:rPr lang="en-US" sz="2000" b="1" dirty="0">
                  <a:latin typeface="Poppins"/>
                  <a:cs typeface="Poppins"/>
                </a:rPr>
                <a:t> and Almutairi, Appl. Sci., 2023 – “An Intrusion Detection System Using </a:t>
              </a:r>
              <a:r>
                <a:rPr lang="en-US" sz="2000" b="1" dirty="0" err="1">
                  <a:latin typeface="Poppins"/>
                  <a:cs typeface="Poppins"/>
                </a:rPr>
                <a:t>BoT</a:t>
              </a:r>
              <a:r>
                <a:rPr lang="en-US" sz="2000" b="1" dirty="0">
                  <a:latin typeface="Poppins"/>
                  <a:cs typeface="Poppins"/>
                </a:rPr>
                <a:t>-IoT” </a:t>
              </a:r>
            </a:p>
            <a:p>
              <a:endParaRPr lang="en-US" dirty="0">
                <a:latin typeface="Poppins"/>
                <a:cs typeface="Poppins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Proposes a multi-level AI-based IDS using ML classifiers (DT, Ensemble Bag, KNN, LDA, SVM) evaluated on various </a:t>
              </a:r>
              <a:r>
                <a:rPr lang="en-US" dirty="0" err="1">
                  <a:latin typeface="Poppins"/>
                  <a:cs typeface="Poppins"/>
                </a:rPr>
                <a:t>BoT</a:t>
              </a:r>
              <a:r>
                <a:rPr lang="en-US" dirty="0">
                  <a:latin typeface="Poppins"/>
                  <a:cs typeface="Poppins"/>
                </a:rPr>
                <a:t>-IoT dataset formats.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Employs data reduction and SMOTE balancing to address class imbalance.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Reports accuracy above 99.8% for most attacks and best performance with ensemble bagging classifier.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Bridges data preprocessing, labeling, and multi-level classification with practical detection in IoT botnets.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3" name="TextBox 11">
              <a:extLst>
                <a:ext uri="{FF2B5EF4-FFF2-40B4-BE49-F238E27FC236}">
                  <a16:creationId xmlns:a16="http://schemas.microsoft.com/office/drawing/2014/main" id="{AD628F44-D8A2-B85C-F192-C269D38D30DA}"/>
                </a:ext>
              </a:extLst>
            </p:cNvPr>
            <p:cNvSpPr/>
            <p:nvPr/>
          </p:nvSpPr>
          <p:spPr>
            <a:xfrm>
              <a:off x="904320" y="651545"/>
              <a:ext cx="5528908" cy="75430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 defTabSz="914400"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b="0" strike="noStrike" spc="-1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LITERATURE SURVEY</a:t>
              </a:r>
            </a:p>
          </p:txBody>
        </p:sp>
        <p:sp>
          <p:nvSpPr>
            <p:cNvPr id="2" name="TextBox 6">
              <a:extLst>
                <a:ext uri="{FF2B5EF4-FFF2-40B4-BE49-F238E27FC236}">
                  <a16:creationId xmlns:a16="http://schemas.microsoft.com/office/drawing/2014/main" id="{B8EE3A88-F208-D98C-34D1-165CB38C76CD}"/>
                </a:ext>
              </a:extLst>
            </p:cNvPr>
            <p:cNvSpPr/>
            <p:nvPr/>
          </p:nvSpPr>
          <p:spPr>
            <a:xfrm>
              <a:off x="904320" y="3849723"/>
              <a:ext cx="16224840" cy="196977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r>
                <a:rPr lang="en-US" sz="2000" b="1" dirty="0">
                  <a:solidFill>
                    <a:srgbClr val="000000"/>
                  </a:solidFill>
                  <a:latin typeface="Poppins"/>
                  <a:cs typeface="Poppins"/>
                </a:rPr>
                <a:t>5</a:t>
              </a:r>
              <a:r>
                <a:rPr lang="en-US" sz="2000" b="1" strike="noStrike" dirty="0">
                  <a:solidFill>
                    <a:srgbClr val="000000"/>
                  </a:solidFill>
                  <a:latin typeface="Poppins"/>
                  <a:cs typeface="Poppins"/>
                </a:rPr>
                <a:t>.</a:t>
              </a:r>
              <a:r>
                <a:rPr lang="en-US" sz="2000" b="1" dirty="0">
                  <a:latin typeface="Poppins"/>
                  <a:cs typeface="Poppins"/>
                </a:rPr>
                <a:t> Sharma et al., IEEE, 2025 – “Leveraging AI for Intrusion Detection in IoT Ecosystems”</a:t>
              </a:r>
              <a:br>
                <a:rPr lang="en-US" sz="2000" b="1" dirty="0"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Sharma et al. review the range of AI and machine learning techniques employed for IoT intrusion detection, covering supervised, unsupervised, and reinforcement learning approaches.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They note the progress made in anomaly detection and attack classification but highlight persistent challenges such as imbalanced traffic and deployment complexity.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The survey lacks in-depth discussion of neuromorphic computing and notably does not cover SNNs.</a:t>
              </a:r>
            </a:p>
          </p:txBody>
        </p:sp>
        <p:sp>
          <p:nvSpPr>
            <p:cNvPr id="3" name="TextBox 6">
              <a:extLst>
                <a:ext uri="{FF2B5EF4-FFF2-40B4-BE49-F238E27FC236}">
                  <a16:creationId xmlns:a16="http://schemas.microsoft.com/office/drawing/2014/main" id="{63935387-1E78-EA38-3AC7-55EA92D233C8}"/>
                </a:ext>
              </a:extLst>
            </p:cNvPr>
            <p:cNvSpPr/>
            <p:nvPr/>
          </p:nvSpPr>
          <p:spPr>
            <a:xfrm>
              <a:off x="904320" y="6155109"/>
              <a:ext cx="16224840" cy="196977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r>
                <a:rPr lang="en-US" sz="2000" b="1" dirty="0">
                  <a:latin typeface="Poppins"/>
                  <a:cs typeface="Poppins"/>
                </a:rPr>
                <a:t>6.</a:t>
              </a:r>
              <a:r>
                <a:rPr lang="en-IN" sz="2000" b="1" dirty="0">
                  <a:latin typeface="Poppins"/>
                  <a:cs typeface="Poppins"/>
                </a:rPr>
                <a:t> </a:t>
              </a:r>
              <a:r>
                <a:rPr lang="en-IN" sz="2000" b="1" dirty="0" err="1">
                  <a:latin typeface="Poppins"/>
                  <a:cs typeface="Poppins"/>
                </a:rPr>
                <a:t>Qaddos</a:t>
              </a:r>
              <a:r>
                <a:rPr lang="en-IN" sz="2000" b="1" dirty="0">
                  <a:latin typeface="Poppins"/>
                  <a:cs typeface="Poppins"/>
                </a:rPr>
                <a:t> et al., Nature, 2024 – “Hybrid CNN-GRU framework for IoT IDS”</a:t>
              </a:r>
              <a:br>
                <a:rPr lang="en-IN" sz="2000" b="1" dirty="0"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n-IN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,Sans-Serif"/>
                <a:buChar char="•"/>
              </a:pPr>
              <a:r>
                <a:rPr lang="en-IN" dirty="0">
                  <a:latin typeface="Poppins"/>
                  <a:cs typeface="Poppins"/>
                </a:rPr>
                <a:t>This paper tackles IoT network intrusion detection with a novel hybrid deep learning framework combining CNN and GRU, aiming to exploit both spatial and sequential relationships.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IN" dirty="0">
                  <a:latin typeface="Poppins"/>
                  <a:cs typeface="Poppins"/>
                </a:rPr>
                <a:t>Experimental evidence shows that the hybrid approach yields strong F1-measure and precision scores on synthetic attack scenarios.</a:t>
              </a:r>
              <a:endParaRPr lang="en-US" dirty="0">
                <a:latin typeface="Poppins"/>
                <a:cs typeface="Poppins"/>
              </a:endParaRPr>
            </a:p>
            <a:p>
              <a:pPr marL="285750" indent="-285750" algn="just">
                <a:buFont typeface="Arial,Sans-Serif"/>
                <a:buChar char="•"/>
              </a:pPr>
              <a:r>
                <a:rPr lang="en-IN" dirty="0">
                  <a:latin typeface="Poppins"/>
                  <a:cs typeface="Poppins"/>
                </a:rPr>
                <a:t>The reliance on synthetic, non-standardized datasets is a weakness, and benchmarking against public datasets like Bot-IoT or NSL-KDD is missing.</a:t>
              </a:r>
              <a:endParaRPr lang="en-US" dirty="0">
                <a:latin typeface="Poppins"/>
                <a:cs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1822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70D28-A648-BEF3-3712-FE611D07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83E34145-AFC2-E3B5-A91E-ED66DAF9357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38FA801-49B8-01E4-DDB4-9344A3129FDB}"/>
              </a:ext>
            </a:extLst>
          </p:cNvPr>
          <p:cNvGrpSpPr/>
          <p:nvPr/>
        </p:nvGrpSpPr>
        <p:grpSpPr>
          <a:xfrm>
            <a:off x="904320" y="861645"/>
            <a:ext cx="16224840" cy="8563710"/>
            <a:chOff x="904320" y="651545"/>
            <a:chExt cx="16224840" cy="8563710"/>
          </a:xfrm>
        </p:grpSpPr>
        <p:sp>
          <p:nvSpPr>
            <p:cNvPr id="109" name="TextBox 6">
              <a:extLst>
                <a:ext uri="{FF2B5EF4-FFF2-40B4-BE49-F238E27FC236}">
                  <a16:creationId xmlns:a16="http://schemas.microsoft.com/office/drawing/2014/main" id="{87D76FD7-08AF-AFC2-D636-141F4115FBB7}"/>
                </a:ext>
              </a:extLst>
            </p:cNvPr>
            <p:cNvSpPr/>
            <p:nvPr/>
          </p:nvSpPr>
          <p:spPr>
            <a:xfrm>
              <a:off x="904320" y="1637535"/>
              <a:ext cx="16224840" cy="196977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r>
                <a:rPr lang="en-US" sz="2000" b="1" dirty="0">
                  <a:latin typeface="Poppins"/>
                  <a:cs typeface="Poppins"/>
                </a:rPr>
                <a:t>7. Wang et al., Nature, 2024 – “An efficient intrusion detection model based on SNNs”</a:t>
              </a:r>
              <a:br>
                <a:rPr lang="en-US" sz="2000" b="1" dirty="0"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The study validates Spiking Neural Networks as effective for intrusion detection, comparing their performance against deep and classical machine learning models on NSL-KDD and AWID datasets.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SNNs are shown to surpass conventional classifiers in terms of both accuracy and efficiency.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Methodological gaps include limited adaptation to nonlinear realistic attack traffic and absence of incremental, real-time learning evaluation.</a:t>
              </a:r>
            </a:p>
          </p:txBody>
        </p:sp>
        <p:sp>
          <p:nvSpPr>
            <p:cNvPr id="113" name="TextBox 11">
              <a:extLst>
                <a:ext uri="{FF2B5EF4-FFF2-40B4-BE49-F238E27FC236}">
                  <a16:creationId xmlns:a16="http://schemas.microsoft.com/office/drawing/2014/main" id="{48C3186A-83EB-D048-4FC2-F8AF0914AAEC}"/>
                </a:ext>
              </a:extLst>
            </p:cNvPr>
            <p:cNvSpPr/>
            <p:nvPr/>
          </p:nvSpPr>
          <p:spPr>
            <a:xfrm>
              <a:off x="904320" y="651545"/>
              <a:ext cx="5528908" cy="75430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ctr" defTabSz="914400"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b="0" strike="noStrike" spc="-1" dirty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LITERATURE SURVEY</a:t>
              </a:r>
            </a:p>
          </p:txBody>
        </p:sp>
        <p:sp>
          <p:nvSpPr>
            <p:cNvPr id="2" name="TextBox 6">
              <a:extLst>
                <a:ext uri="{FF2B5EF4-FFF2-40B4-BE49-F238E27FC236}">
                  <a16:creationId xmlns:a16="http://schemas.microsoft.com/office/drawing/2014/main" id="{1DF83B3F-5C7C-99A0-D369-98E2EADAC4D6}"/>
                </a:ext>
              </a:extLst>
            </p:cNvPr>
            <p:cNvSpPr/>
            <p:nvPr/>
          </p:nvSpPr>
          <p:spPr>
            <a:xfrm>
              <a:off x="904320" y="3856422"/>
              <a:ext cx="16224840" cy="169277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r>
                <a:rPr lang="en-US" sz="2000" b="1" dirty="0">
                  <a:solidFill>
                    <a:srgbClr val="000000"/>
                  </a:solidFill>
                  <a:latin typeface="Poppins"/>
                  <a:cs typeface="Poppins"/>
                </a:rPr>
                <a:t>8. </a:t>
              </a:r>
              <a:r>
                <a:rPr lang="en-US" sz="2000" b="1" dirty="0">
                  <a:latin typeface="Poppins"/>
                  <a:cs typeface="Poppins"/>
                </a:rPr>
                <a:t>Yarga and Wood, Frontiers in Neuroscience, 2024 – “Direct training of deep spiking neural networks”</a:t>
              </a:r>
              <a:br>
                <a:rPr lang="en-US" sz="2000" b="1" dirty="0"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Presents parallelized, event-driven spiking neural models for dynamic processing, arguing their applicability to distributed edge security tasks.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Shows that deep SNNs can learn temporal and frequency features critical for anomaly recognition and alerting.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However, IoT-scale validation and rigorous benchmarking are areas left for future work.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" name="TextBox 6">
              <a:extLst>
                <a:ext uri="{FF2B5EF4-FFF2-40B4-BE49-F238E27FC236}">
                  <a16:creationId xmlns:a16="http://schemas.microsoft.com/office/drawing/2014/main" id="{366FBA4D-56EF-2E6D-0E1C-397307F5A1BF}"/>
                </a:ext>
              </a:extLst>
            </p:cNvPr>
            <p:cNvSpPr/>
            <p:nvPr/>
          </p:nvSpPr>
          <p:spPr>
            <a:xfrm>
              <a:off x="904320" y="5830381"/>
              <a:ext cx="16224840" cy="169277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r>
                <a:rPr lang="en-US" sz="2000" b="1" dirty="0">
                  <a:latin typeface="Poppins"/>
                  <a:cs typeface="Poppins"/>
                </a:rPr>
                <a:t>9. PM Rahman et al., PubMed, 2023 – “Exploring spiking neural networks: analysis and limitations”</a:t>
              </a:r>
              <a:br>
                <a:rPr lang="en-US" sz="2000" b="1" dirty="0"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An in-depth review of the theoretical foundations and computational limitations of SNNs.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Highlights strengths—such as biological plausibility and temporal encoding—as well as the difficulties in selecting optimal architectures and maintaining robustness against novel attacks.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Biological realism is a double-edged sword, leading to complexity in model design and deployment.</a:t>
              </a: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2B2D65E3-58EC-461D-A069-BEF89D6F0DF8}"/>
                </a:ext>
              </a:extLst>
            </p:cNvPr>
            <p:cNvSpPr/>
            <p:nvPr/>
          </p:nvSpPr>
          <p:spPr>
            <a:xfrm>
              <a:off x="904320" y="7799483"/>
              <a:ext cx="16224840" cy="141577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r>
                <a:rPr lang="en-US" sz="2000" b="1" dirty="0">
                  <a:latin typeface="Poppins"/>
                  <a:cs typeface="Poppins"/>
                </a:rPr>
                <a:t>10. Manivannan et al., Elsevier, 2024 – “Recent endeavors in ML-powered IDS for IoT”</a:t>
              </a:r>
              <a:br>
                <a:rPr lang="en-US" sz="2000" b="1" dirty="0"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Surveys recent machine learning IDS solutions, including deep and classical models, emphasizing trends in explainability, minority class handling, and online learning.</a:t>
              </a:r>
            </a:p>
            <a:p>
              <a:pPr marL="285750" indent="-285750" algn="just">
                <a:buFont typeface="Arial,Sans-Serif"/>
                <a:buChar char="•"/>
              </a:pPr>
              <a:r>
                <a:rPr lang="en-US" dirty="0">
                  <a:latin typeface="Poppins"/>
                  <a:cs typeface="Poppins"/>
                </a:rPr>
                <a:t>Identifies core gaps in hybrid techniques, deployment in highly dynamic IoT networks, and real-time integration of adaptive models.</a:t>
              </a:r>
              <a:endParaRPr lang="en-US" b="1" dirty="0">
                <a:latin typeface="Poppins"/>
                <a:cs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1675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C39C7-7E04-4011-FE19-09756FFD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">
            <a:extLst>
              <a:ext uri="{FF2B5EF4-FFF2-40B4-BE49-F238E27FC236}">
                <a16:creationId xmlns:a16="http://schemas.microsoft.com/office/drawing/2014/main" id="{D9593626-BBC7-4717-7131-829CD62E1BD7}"/>
              </a:ext>
            </a:extLst>
          </p:cNvPr>
          <p:cNvSpPr/>
          <p:nvPr/>
        </p:nvSpPr>
        <p:spPr>
          <a:xfrm>
            <a:off x="904320" y="651545"/>
            <a:ext cx="8999335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6160"/>
              </a:lnSpc>
              <a:tabLst>
                <a:tab pos="0" algn="l"/>
              </a:tabLst>
            </a:pPr>
            <a:r>
              <a:rPr lang="en-US" sz="4400" spc="-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SUMMARY OF </a:t>
            </a:r>
            <a:r>
              <a:rPr lang="en-US" sz="4400" b="0" strike="noStrike" spc="-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LITERATURE SURVEY</a:t>
            </a:r>
          </a:p>
        </p:txBody>
      </p:sp>
      <p:pic>
        <p:nvPicPr>
          <p:cNvPr id="114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F68D7BE0-324B-C492-844D-E85B255940D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DB1EEE-432E-DBB8-8110-A4ADFFD21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763153"/>
              </p:ext>
            </p:extLst>
          </p:nvPr>
        </p:nvGraphicFramePr>
        <p:xfrm>
          <a:off x="390282" y="1684354"/>
          <a:ext cx="17507436" cy="8257591"/>
        </p:xfrm>
        <a:graphic>
          <a:graphicData uri="http://schemas.openxmlformats.org/drawingml/2006/table">
            <a:tbl>
              <a:tblPr/>
              <a:tblGrid>
                <a:gridCol w="3387277">
                  <a:extLst>
                    <a:ext uri="{9D8B030D-6E8A-4147-A177-3AD203B41FA5}">
                      <a16:colId xmlns:a16="http://schemas.microsoft.com/office/drawing/2014/main" val="2163505311"/>
                    </a:ext>
                  </a:extLst>
                </a:gridCol>
                <a:gridCol w="2341715">
                  <a:extLst>
                    <a:ext uri="{9D8B030D-6E8A-4147-A177-3AD203B41FA5}">
                      <a16:colId xmlns:a16="http://schemas.microsoft.com/office/drawing/2014/main" val="2227722171"/>
                    </a:ext>
                  </a:extLst>
                </a:gridCol>
                <a:gridCol w="1509027">
                  <a:extLst>
                    <a:ext uri="{9D8B030D-6E8A-4147-A177-3AD203B41FA5}">
                      <a16:colId xmlns:a16="http://schemas.microsoft.com/office/drawing/2014/main" val="1520753476"/>
                    </a:ext>
                  </a:extLst>
                </a:gridCol>
                <a:gridCol w="4621353">
                  <a:extLst>
                    <a:ext uri="{9D8B030D-6E8A-4147-A177-3AD203B41FA5}">
                      <a16:colId xmlns:a16="http://schemas.microsoft.com/office/drawing/2014/main" val="2602491529"/>
                    </a:ext>
                  </a:extLst>
                </a:gridCol>
                <a:gridCol w="2824032">
                  <a:extLst>
                    <a:ext uri="{9D8B030D-6E8A-4147-A177-3AD203B41FA5}">
                      <a16:colId xmlns:a16="http://schemas.microsoft.com/office/drawing/2014/main" val="785825368"/>
                    </a:ext>
                  </a:extLst>
                </a:gridCol>
                <a:gridCol w="2824032">
                  <a:extLst>
                    <a:ext uri="{9D8B030D-6E8A-4147-A177-3AD203B41FA5}">
                      <a16:colId xmlns:a16="http://schemas.microsoft.com/office/drawing/2014/main" val="222314728"/>
                    </a:ext>
                  </a:extLst>
                </a:gridCol>
              </a:tblGrid>
              <a:tr h="557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Paper 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  <a:latin typeface="Poppins"/>
                          <a:cs typeface="Poppins"/>
                        </a:rPr>
                        <a:t>Authors (et al.)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Publisher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  <a:latin typeface="Poppins"/>
                          <a:cs typeface="Poppins"/>
                        </a:rPr>
                        <a:t>Contribution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  <a:latin typeface="Poppins"/>
                          <a:cs typeface="Poppins"/>
                        </a:rPr>
                        <a:t>Dataset/Methodology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Limitations/Gaps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25533"/>
                  </a:ext>
                </a:extLst>
              </a:tr>
              <a:tr h="92749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“Botnet Attack ML Detection” [1]</a:t>
                      </a:r>
                      <a:endParaRPr lang="en-US"/>
                    </a:p>
                  </a:txBody>
                  <a:tcPr marL="56926" marR="56926" marT="56926" marB="569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Khaleefah </a:t>
                      </a: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et al.</a:t>
                      </a:r>
                      <a:endParaRPr lang="en-US"/>
                    </a:p>
                  </a:txBody>
                  <a:tcPr marL="56926" marR="56926" marT="56926" marB="569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Informatica</a:t>
                      </a:r>
                      <a:endParaRPr lang="en-US"/>
                    </a:p>
                  </a:txBody>
                  <a:tcPr marL="56926" marR="56926" marT="56926" marB="569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ML model performance on Bot-IoT</a:t>
                      </a:r>
                      <a:endParaRPr lang="en-US"/>
                    </a:p>
                  </a:txBody>
                  <a:tcPr marL="56926" marR="56926" marT="56926" marB="569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Bot-IoT dataset, ML</a:t>
                      </a:r>
                      <a:endParaRPr lang="en-US"/>
                    </a:p>
                  </a:txBody>
                  <a:tcPr marL="56926" marR="56926" marT="56926" marB="569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Weak on rare/normal sample detection, lacks SNN</a:t>
                      </a:r>
                      <a:endParaRPr lang="en-US"/>
                    </a:p>
                  </a:txBody>
                  <a:tcPr marL="56926" marR="56926" marT="56926" marB="5692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657787"/>
                  </a:ext>
                </a:extLst>
              </a:tr>
              <a:tr h="92749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“IDS in IoT Networks” [3]</a:t>
                      </a:r>
                      <a:endParaRPr lang="en-US"/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Rahman et al.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Elsevier</a:t>
                      </a:r>
                      <a:endParaRPr lang="en-US"/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Taxonomy and survey of IDS architectures</a:t>
                      </a:r>
                      <a:endParaRPr lang="en-US"/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Review, Multi-dataset</a:t>
                      </a:r>
                      <a:endParaRPr lang="en-US"/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Ignores neuromorphic (SNN) models, lacks edge focus</a:t>
                      </a:r>
                      <a:endParaRPr lang="en-US"/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227571"/>
                  </a:ext>
                </a:extLst>
              </a:tr>
              <a:tr h="927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“DL Models for IoT IDS” [4]</a:t>
                      </a:r>
                      <a:endParaRPr lang="en-IN" sz="18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Amine et al.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Nature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Deep learning for accurate detection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GRU+CNN, Synthetic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Unproven scalability on real IoT, limited benchmarks"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632048"/>
                  </a:ext>
                </a:extLst>
              </a:tr>
              <a:tr h="659151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>
                          <a:effectLst/>
                          <a:latin typeface="Poppins"/>
                          <a:cs typeface="Poppins"/>
                        </a:rPr>
                        <a:t>"IDS Using BoT-IoT" [5]</a:t>
                      </a:r>
                      <a:endParaRPr lang="en-IN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Alosaimi</a:t>
                      </a:r>
                      <a:r>
                        <a:rPr lang="en-IN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and Almutairi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Appl. Sci.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ML-based multi-level IDS with dataset balancing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BoT-IoT variants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Dataset reduction, practical performance focus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635719"/>
                  </a:ext>
                </a:extLst>
              </a:tr>
              <a:tr h="655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“AI IDS Survey” [6]</a:t>
                      </a:r>
                      <a:endParaRPr lang="en-IN" sz="18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Sharma et al.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IEEE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Review of AI/ML techniques for IDS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Literature survey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No SNN, missing deployment details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340463"/>
                  </a:ext>
                </a:extLst>
              </a:tr>
              <a:tr h="659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“Hybrid CNN-GRU IDS” [7]</a:t>
                      </a:r>
                      <a:endParaRPr lang="en-IN" sz="18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Qaddos et al.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Nature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CNN-GRU hybrid, spatial+temporal modeling</a:t>
                      </a:r>
                      <a:endParaRPr lang="en-IN" sz="1800" err="1">
                        <a:effectLst/>
                        <a:latin typeface="Poppins"/>
                        <a:cs typeface="Poppins"/>
                      </a:endParaRP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Synthetic IoT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No Bot-IoT/NSL-KDD benchmarking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832668"/>
                  </a:ext>
                </a:extLst>
              </a:tr>
              <a:tr h="659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“SNN Model for IDS” [8]</a:t>
                      </a:r>
                      <a:endParaRPr lang="en-IN" sz="18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Wang et al.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Nature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SNN vs. deep/classical for IDS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SNN, NSL-KDD, AWID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No real-time learning, adaptation gaps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708921"/>
                  </a:ext>
                </a:extLst>
              </a:tr>
              <a:tr h="659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“Training Deep SNNs” [9]</a:t>
                      </a:r>
                      <a:endParaRPr lang="en-IN" sz="18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Yarga, Wood et al.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Frontiers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Event-driven SNN, temporal anomaly detection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Simulation, Edge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Not validated for IoT-scale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257088"/>
                  </a:ext>
                </a:extLst>
              </a:tr>
              <a:tr h="659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“Analysis of SNNs” [10]</a:t>
                      </a:r>
                      <a:endParaRPr lang="en-IN" sz="18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PM Rahman et al.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PubMed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Mathematical analysis and limits of SNNs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Theoretical study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Model selection, new attack adaptation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79369"/>
                  </a:ext>
                </a:extLst>
              </a:tr>
              <a:tr h="6591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“ML IDS for IoT Trends” [11]</a:t>
                      </a:r>
                      <a:endParaRPr lang="en-IN" sz="18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Manivannan et al.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Elsevier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effectLst/>
                          <a:latin typeface="Poppins"/>
                          <a:cs typeface="Poppins"/>
                        </a:rPr>
                        <a:t>ML survey—explainability, imbalance, online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effectLst/>
                          <a:latin typeface="Poppins"/>
                          <a:cs typeface="Poppins"/>
                        </a:rPr>
                        <a:t>Survey, multiple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effectLst/>
                          <a:latin typeface="Poppins"/>
                          <a:cs typeface="Poppins"/>
                        </a:rPr>
                        <a:t>Hybrid, real-time deployment gap</a:t>
                      </a:r>
                    </a:p>
                  </a:txBody>
                  <a:tcPr marL="56926" marR="56926" marT="56926" marB="569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165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63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B36E-6AF6-C6C7-DB11-6FA63394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">
            <a:extLst>
              <a:ext uri="{FF2B5EF4-FFF2-40B4-BE49-F238E27FC236}">
                <a16:creationId xmlns:a16="http://schemas.microsoft.com/office/drawing/2014/main" id="{E7E7C2FB-2C44-B0D3-2D04-99A48ECA1FF1}"/>
              </a:ext>
            </a:extLst>
          </p:cNvPr>
          <p:cNvSpPr/>
          <p:nvPr/>
        </p:nvSpPr>
        <p:spPr>
          <a:xfrm>
            <a:off x="904319" y="651545"/>
            <a:ext cx="9970007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6160"/>
              </a:lnSpc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SUMMARY OF LITERATURE SURVEY </a:t>
            </a:r>
            <a:r>
              <a:rPr lang="en-US" sz="2000" b="0" strike="noStrike" spc="-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contd.</a:t>
            </a:r>
          </a:p>
        </p:txBody>
      </p:sp>
      <p:pic>
        <p:nvPicPr>
          <p:cNvPr id="114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74696484-BC02-F567-3949-80002DF6ABF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81D241A-B389-68C1-F673-0843A748D3B4}"/>
              </a:ext>
            </a:extLst>
          </p:cNvPr>
          <p:cNvGrpSpPr/>
          <p:nvPr/>
        </p:nvGrpSpPr>
        <p:grpSpPr>
          <a:xfrm>
            <a:off x="1013175" y="1780564"/>
            <a:ext cx="16123230" cy="3842294"/>
            <a:chOff x="1013175" y="1485720"/>
            <a:chExt cx="16123230" cy="3842294"/>
          </a:xfrm>
        </p:grpSpPr>
        <p:sp>
          <p:nvSpPr>
            <p:cNvPr id="2" name="TextBox 11">
              <a:extLst>
                <a:ext uri="{FF2B5EF4-FFF2-40B4-BE49-F238E27FC236}">
                  <a16:creationId xmlns:a16="http://schemas.microsoft.com/office/drawing/2014/main" id="{D8B0B250-731A-2276-D9AC-38177ECCF3FB}"/>
                </a:ext>
              </a:extLst>
            </p:cNvPr>
            <p:cNvSpPr/>
            <p:nvPr/>
          </p:nvSpPr>
          <p:spPr>
            <a:xfrm>
              <a:off x="1013175" y="1485720"/>
              <a:ext cx="4413268" cy="3077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r>
                <a:rPr lang="en-IN" sz="2000" b="1">
                  <a:latin typeface="Poppins" panose="00000500000000000000" pitchFamily="2" charset="0"/>
                  <a:cs typeface="Poppins" panose="00000500000000000000" pitchFamily="2" charset="0"/>
                </a:rPr>
                <a:t>Synthesis &amp; Further Observations</a:t>
              </a:r>
            </a:p>
          </p:txBody>
        </p:sp>
        <p:sp>
          <p:nvSpPr>
            <p:cNvPr id="3" name="TextBox 11">
              <a:extLst>
                <a:ext uri="{FF2B5EF4-FFF2-40B4-BE49-F238E27FC236}">
                  <a16:creationId xmlns:a16="http://schemas.microsoft.com/office/drawing/2014/main" id="{BB3F22F4-9B82-5969-CE81-D1848A0C8EFA}"/>
                </a:ext>
              </a:extLst>
            </p:cNvPr>
            <p:cNvSpPr/>
            <p:nvPr/>
          </p:nvSpPr>
          <p:spPr>
            <a:xfrm>
              <a:off x="1013175" y="2004027"/>
              <a:ext cx="16123230" cy="332398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just"/>
              <a:r>
                <a:rPr lang="en-US" dirty="0">
                  <a:latin typeface="Poppins"/>
                  <a:cs typeface="Poppins"/>
                </a:rPr>
                <a:t>The literature highlights rapid progress for IoT IDS solutions, especially hybrid deep learning and neuromorphic algorithms, but also documents persistent open challenges:</a:t>
              </a:r>
              <a:endParaRPr lang="en-US" dirty="0">
                <a:latin typeface="Calibri"/>
                <a:ea typeface="Calibri"/>
                <a:cs typeface="Calibri"/>
              </a:endParaRPr>
            </a:p>
            <a:p>
              <a:pPr algn="just"/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Imbalanced datasets and poor performance on minority and normal classes hinder real-world applicability.​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Scalability and energy consumption concerns dominate feasibility discussions for large-scale IoT, where battery and computational resources are constrained.​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Generalization across real deployments is frequently limited by the synthetic nature of laboratory datasets, necessitating better real-world modeling and adaptation strategies.​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Neuromorphic models (SNNs), although promising for energy efficiency and temporal data, are still under-explored in IoT-scale, real-time operational settings.​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Hybrid and ensemble models—combining classical and neuromorphic approaches—are recommended for improved accuracy, energy savings, and adaptability to emerging threats.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7115D9A-144A-F3F8-7FF2-7C7B900A728D}"/>
              </a:ext>
            </a:extLst>
          </p:cNvPr>
          <p:cNvGrpSpPr/>
          <p:nvPr/>
        </p:nvGrpSpPr>
        <p:grpSpPr>
          <a:xfrm>
            <a:off x="1013175" y="6066982"/>
            <a:ext cx="16123230" cy="2734298"/>
            <a:chOff x="1013175" y="5703683"/>
            <a:chExt cx="16123230" cy="2734298"/>
          </a:xfrm>
        </p:grpSpPr>
        <p:sp>
          <p:nvSpPr>
            <p:cNvPr id="4" name="TextBox 11">
              <a:extLst>
                <a:ext uri="{FF2B5EF4-FFF2-40B4-BE49-F238E27FC236}">
                  <a16:creationId xmlns:a16="http://schemas.microsoft.com/office/drawing/2014/main" id="{1C887D78-6B83-8708-923D-D611FEC5831F}"/>
                </a:ext>
              </a:extLst>
            </p:cNvPr>
            <p:cNvSpPr/>
            <p:nvPr/>
          </p:nvSpPr>
          <p:spPr>
            <a:xfrm>
              <a:off x="1013175" y="5703683"/>
              <a:ext cx="4413268" cy="3077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r>
                <a:rPr lang="en-US" sz="2000" b="1">
                  <a:latin typeface="Poppins" panose="00000500000000000000" pitchFamily="2" charset="0"/>
                  <a:cs typeface="Poppins" panose="00000500000000000000" pitchFamily="2" charset="0"/>
                </a:rPr>
                <a:t>Project-Specific Solution</a:t>
              </a:r>
            </a:p>
          </p:txBody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014262E8-0100-8602-08D3-E3E722AEBDC1}"/>
                </a:ext>
              </a:extLst>
            </p:cNvPr>
            <p:cNvSpPr/>
            <p:nvPr/>
          </p:nvSpPr>
          <p:spPr>
            <a:xfrm>
              <a:off x="1013175" y="6221990"/>
              <a:ext cx="16123230" cy="221599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algn="just"/>
              <a:r>
                <a:rPr lang="en-US" dirty="0">
                  <a:latin typeface="Poppins"/>
                  <a:cs typeface="Poppins"/>
                </a:rPr>
                <a:t>This project directly addresses several challenges from the survey: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Uses advanced balancing (SMOTE), augmentation, and ensemble methods to boost minority class and normal traffic classification.​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Implements Spiking Neural Networks and classical models jointly for robust, adaptable intrusion detection with greater operational energy efficiency.​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Fuses real-time prediction, containerized edge device simulation, and interactive dashboards, providing practical, scalable IoT security.​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latin typeface="Poppins"/>
                  <a:cs typeface="Poppins"/>
                </a:rPr>
                <a:t>These contributions fill important gaps in both academic literature and operational cybersecurity, marking the project’s value in the ongoing evolution of IoT intrusion detection systems.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7485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/>
          <p:cNvSpPr/>
          <p:nvPr/>
        </p:nvSpPr>
        <p:spPr>
          <a:xfrm>
            <a:off x="914760" y="703110"/>
            <a:ext cx="4550975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6160"/>
              </a:lnSpc>
              <a:tabLst>
                <a:tab pos="0" algn="l"/>
              </a:tabLst>
            </a:pPr>
            <a:r>
              <a:rPr lang="en-US" sz="4400" spc="219" dirty="0">
                <a:solidFill>
                  <a:srgbClr val="000000"/>
                </a:solidFill>
                <a:latin typeface="Poppins"/>
                <a:cs typeface="Poppins"/>
              </a:rPr>
              <a:t>METHODOLOGY</a:t>
            </a:r>
            <a:endParaRPr lang="en-US" sz="4400" strike="noStrike" spc="219" dirty="0">
              <a:solidFill>
                <a:srgbClr val="000000"/>
              </a:solidFill>
              <a:latin typeface="Poppins"/>
              <a:cs typeface="Poppins"/>
            </a:endParaRPr>
          </a:p>
        </p:txBody>
      </p:sp>
      <p:pic>
        <p:nvPicPr>
          <p:cNvPr id="117" name="Picture 12" descr="A pink and black logo&#10;&#10;AI-generated content may be incorrect."/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C03C604A-E508-D2EC-BA2C-44F972D43C9F}"/>
              </a:ext>
            </a:extLst>
          </p:cNvPr>
          <p:cNvSpPr/>
          <p:nvPr/>
        </p:nvSpPr>
        <p:spPr>
          <a:xfrm>
            <a:off x="914759" y="1804052"/>
            <a:ext cx="4846621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2000" b="1" spc="219">
                <a:solidFill>
                  <a:srgbClr val="000000"/>
                </a:solidFill>
                <a:latin typeface="Poppins"/>
                <a:cs typeface="Poppins"/>
              </a:rPr>
              <a:t>Overall System Block Diagram</a:t>
            </a:r>
            <a:endParaRPr lang="en-US" sz="2000" b="1">
              <a:ea typeface="Calibri"/>
              <a:cs typeface="Calibri"/>
            </a:endParaRPr>
          </a:p>
        </p:txBody>
      </p:sp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527C765-6BB9-31A8-4BFE-5D7D4E8DC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4" y="2575832"/>
            <a:ext cx="3910692" cy="6917871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A4BC7C29-B763-9C77-BCF4-BB5E02B35B2F}"/>
              </a:ext>
            </a:extLst>
          </p:cNvPr>
          <p:cNvSpPr/>
          <p:nvPr/>
        </p:nvSpPr>
        <p:spPr>
          <a:xfrm>
            <a:off x="6366275" y="1805289"/>
            <a:ext cx="5462654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2000" b="1" spc="219">
                <a:solidFill>
                  <a:srgbClr val="000000"/>
                </a:solidFill>
                <a:latin typeface="Poppins"/>
                <a:cs typeface="Poppins"/>
              </a:rPr>
              <a:t>Data Acquisition and Preparation</a:t>
            </a:r>
            <a:endParaRPr lang="en-US" sz="2000" b="1">
              <a:ea typeface="Calibri"/>
              <a:cs typeface="Calibri"/>
            </a:endParaRP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641EAE4B-7330-D322-8AAC-A9292297B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885" y="2562225"/>
            <a:ext cx="3910692" cy="691787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3F3A45-7985-509B-FCE7-B1F0FC5F8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3296" y="2556040"/>
            <a:ext cx="5108122" cy="4563836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E30707B9-0D3C-C5F0-9452-73D2AFF015D6}"/>
              </a:ext>
            </a:extLst>
          </p:cNvPr>
          <p:cNvSpPr/>
          <p:nvPr/>
        </p:nvSpPr>
        <p:spPr>
          <a:xfrm>
            <a:off x="12045401" y="1853533"/>
            <a:ext cx="5462654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Combined Dataset Creation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26BB2-C6CE-E069-F662-13AC9D4D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2E3520A6-75B4-1698-A3FF-0E6CD9835B11}"/>
              </a:ext>
            </a:extLst>
          </p:cNvPr>
          <p:cNvSpPr/>
          <p:nvPr/>
        </p:nvSpPr>
        <p:spPr>
          <a:xfrm>
            <a:off x="914760" y="703110"/>
            <a:ext cx="4550975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solidFill>
                  <a:srgbClr val="000000"/>
                </a:solidFill>
                <a:latin typeface="Poppins"/>
                <a:cs typeface="Poppins"/>
              </a:rPr>
              <a:t>METHODOLOGY</a:t>
            </a:r>
            <a:endParaRPr lang="en-US" sz="4400" strike="noStrike" spc="219">
              <a:solidFill>
                <a:srgbClr val="000000"/>
              </a:solidFill>
              <a:latin typeface="Poppins"/>
              <a:cs typeface="Poppins"/>
            </a:endParaRPr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7ABB8B1A-8163-9D7E-14D2-AB6F7FDB10F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9BF47F3B-AC73-18EB-AFFB-BC73DFCB9C41}"/>
              </a:ext>
            </a:extLst>
          </p:cNvPr>
          <p:cNvSpPr/>
          <p:nvPr/>
        </p:nvSpPr>
        <p:spPr>
          <a:xfrm>
            <a:off x="914759" y="1805289"/>
            <a:ext cx="5299367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2000" b="1" spc="219" dirty="0">
                <a:solidFill>
                  <a:srgbClr val="000000"/>
                </a:solidFill>
                <a:latin typeface="Poppins"/>
                <a:cs typeface="Poppins"/>
              </a:rPr>
              <a:t>Data Acquisition and Preparation</a:t>
            </a:r>
          </a:p>
        </p:txBody>
      </p:sp>
      <p:pic>
        <p:nvPicPr>
          <p:cNvPr id="8" name="Picture 7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79BD5E2F-6BDC-3FD6-6ABA-419B5D6D4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19" y="2308452"/>
            <a:ext cx="10847615" cy="3316061"/>
          </a:xfrm>
          <a:prstGeom prst="rect">
            <a:avLst/>
          </a:prstGeom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0B7B1E6A-149E-5396-6BCD-AA5239CDDFE0}"/>
              </a:ext>
            </a:extLst>
          </p:cNvPr>
          <p:cNvSpPr/>
          <p:nvPr/>
        </p:nvSpPr>
        <p:spPr>
          <a:xfrm>
            <a:off x="12745550" y="3544528"/>
            <a:ext cx="3936180" cy="8309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dirty="0">
                <a:latin typeface="Poppins"/>
                <a:ea typeface="Calibri"/>
                <a:cs typeface="Poppins"/>
              </a:rPr>
              <a:t>Attack category and subcategory-wise class distribution in DB1.</a:t>
            </a:r>
            <a:endParaRPr lang="en-US">
              <a:latin typeface="Poppins"/>
              <a:ea typeface="Calibri"/>
              <a:cs typeface="Calibri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09391AD7-09A4-CD00-BB05-EC5C04D40F2D}"/>
              </a:ext>
            </a:extLst>
          </p:cNvPr>
          <p:cNvSpPr/>
          <p:nvPr/>
        </p:nvSpPr>
        <p:spPr>
          <a:xfrm>
            <a:off x="914759" y="6258536"/>
            <a:ext cx="2968835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2000" b="1" spc="219" dirty="0">
                <a:solidFill>
                  <a:srgbClr val="000000"/>
                </a:solidFill>
                <a:latin typeface="Poppins"/>
                <a:cs typeface="Poppins"/>
              </a:rPr>
              <a:t>Feature Selection</a:t>
            </a:r>
            <a:endParaRPr lang="en-US" sz="2000" b="1" spc="219" dirty="0">
              <a:latin typeface="Poppins"/>
              <a:cs typeface="Poppins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1307233F-724F-6EA7-388A-E7B0FF92526E}"/>
              </a:ext>
            </a:extLst>
          </p:cNvPr>
          <p:cNvSpPr/>
          <p:nvPr/>
        </p:nvSpPr>
        <p:spPr>
          <a:xfrm>
            <a:off x="1023614" y="6776843"/>
            <a:ext cx="16123230" cy="22647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Only core numerical and protocol features were retained (e.g., proto, </a:t>
            </a:r>
            <a:r>
              <a:rPr lang="en-US" sz="2000" err="1">
                <a:latin typeface="Poppins"/>
                <a:cs typeface="Poppins"/>
              </a:rPr>
              <a:t>flgs</a:t>
            </a:r>
            <a:r>
              <a:rPr lang="en-US" sz="2000">
                <a:latin typeface="Poppins"/>
                <a:cs typeface="Poppins"/>
              </a:rPr>
              <a:t>, ports, pkt/byte counts, rate features).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Redundant and non-generalizable attributes (IP addresses, packet IDs, and derived columns) were dropped to improve efficiency and prevent model overfitting.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This selection process ensured a compact and informative feature set for real-time, scalable intrusion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Combining the Category and Subcategory target labels to create a new target label </a:t>
            </a:r>
            <a:r>
              <a:rPr lang="en-US" sz="2000" err="1">
                <a:latin typeface="Poppins"/>
                <a:cs typeface="Poppins"/>
              </a:rPr>
              <a:t>Category_Subcategory</a:t>
            </a:r>
            <a:r>
              <a:rPr lang="en-US" sz="2000">
                <a:latin typeface="Poppins"/>
                <a:cs typeface="Poppi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987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CAD44-35ED-AB9B-9449-A0D1B1BD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276CCEF8-28E9-1E5A-92CE-3B3D0227A49F}"/>
              </a:ext>
            </a:extLst>
          </p:cNvPr>
          <p:cNvSpPr/>
          <p:nvPr/>
        </p:nvSpPr>
        <p:spPr>
          <a:xfrm>
            <a:off x="914760" y="703110"/>
            <a:ext cx="4550975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solidFill>
                  <a:srgbClr val="000000"/>
                </a:solidFill>
                <a:latin typeface="Poppins"/>
                <a:cs typeface="Poppins"/>
              </a:rPr>
              <a:t>METHODOLOGY</a:t>
            </a:r>
            <a:endParaRPr lang="en-US" sz="4400" strike="noStrike" spc="219">
              <a:solidFill>
                <a:srgbClr val="000000"/>
              </a:solidFill>
              <a:latin typeface="Poppins"/>
              <a:cs typeface="Poppins"/>
            </a:endParaRPr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2E94E4A8-CABB-FDCA-97B0-41C7F986D1E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DA3E5759-B225-D850-1D2B-82914440792B}"/>
              </a:ext>
            </a:extLst>
          </p:cNvPr>
          <p:cNvSpPr/>
          <p:nvPr/>
        </p:nvSpPr>
        <p:spPr>
          <a:xfrm>
            <a:off x="914759" y="1805289"/>
            <a:ext cx="6739249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Dataset Labeling and Classification Setup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77481A74-0555-868B-0524-2D2ED77EAC09}"/>
              </a:ext>
            </a:extLst>
          </p:cNvPr>
          <p:cNvSpPr/>
          <p:nvPr/>
        </p:nvSpPr>
        <p:spPr>
          <a:xfrm>
            <a:off x="979082" y="2575947"/>
            <a:ext cx="10541829" cy="64197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1">
                <a:latin typeface="Poppins"/>
                <a:cs typeface="Poppins"/>
              </a:rPr>
              <a:t>Creation of DB2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Creation of DB2 by randomly sampling DB1, </a:t>
            </a:r>
            <a:r>
              <a:rPr lang="en-US" sz="2000">
                <a:latin typeface="Poppins"/>
                <a:ea typeface="+mn-lt"/>
                <a:cs typeface="Poppins"/>
              </a:rPr>
              <a:t>reducing the</a:t>
            </a:r>
            <a:r>
              <a:rPr lang="en-US" sz="2000">
                <a:latin typeface="Poppins"/>
                <a:cs typeface="Poppins"/>
              </a:rPr>
              <a:t> dataset from approximately 3.7 million to 63,030 records.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A cap of 10,000 was set for all the target labels, targets with less samples were retained completely. 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endParaRPr lang="en-US" sz="20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1">
                <a:latin typeface="Poppins"/>
                <a:cs typeface="Poppins"/>
              </a:rPr>
              <a:t>Data Preprocessing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Missing values were filled with zero to ensure all feature columns were numerical.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Label encoding was applied to the label column using a </a:t>
            </a:r>
            <a:r>
              <a:rPr lang="en-US" sz="2000" err="1">
                <a:latin typeface="Poppins"/>
                <a:cs typeface="Poppins"/>
              </a:rPr>
              <a:t>LabelEncoder</a:t>
            </a:r>
            <a:r>
              <a:rPr lang="en-US" sz="2000">
                <a:latin typeface="Poppins"/>
                <a:cs typeface="Poppins"/>
              </a:rPr>
              <a:t>, which was saved for reuse during inference.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Min-Max scaling was applied to normalize all numerical features to a 0–1 range using a Min-Max Scaler. The scaler object was saved for real-time scaling during prediction.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endParaRPr lang="en-US" sz="2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3B3514-8612-BE2C-1052-491AD4AFE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1653" y="3747284"/>
            <a:ext cx="5212031" cy="277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4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CE41-3E34-C832-57F7-E66E6934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2C6F43AE-7753-E18C-A307-4A53678B47FC}"/>
              </a:ext>
            </a:extLst>
          </p:cNvPr>
          <p:cNvSpPr/>
          <p:nvPr/>
        </p:nvSpPr>
        <p:spPr>
          <a:xfrm>
            <a:off x="914760" y="703110"/>
            <a:ext cx="4550975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solidFill>
                  <a:srgbClr val="000000"/>
                </a:solidFill>
                <a:latin typeface="Poppins"/>
                <a:cs typeface="Poppins"/>
              </a:rPr>
              <a:t>METHODOLOGY</a:t>
            </a:r>
            <a:endParaRPr lang="en-US" sz="4400" strike="noStrike" spc="219">
              <a:solidFill>
                <a:srgbClr val="000000"/>
              </a:solidFill>
              <a:latin typeface="Poppins"/>
              <a:cs typeface="Poppins"/>
            </a:endParaRPr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2AE93DC2-A4D4-F506-F8C0-65B4A8934E2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8C9F72FC-9B62-54EA-A8A0-9BCC549D612E}"/>
              </a:ext>
            </a:extLst>
          </p:cNvPr>
          <p:cNvSpPr/>
          <p:nvPr/>
        </p:nvSpPr>
        <p:spPr>
          <a:xfrm>
            <a:off x="914759" y="1805289"/>
            <a:ext cx="6739249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Dataset Labeling and Classification Setup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191A8E7-ACDF-1246-FC74-CE96A89D3A1D}"/>
              </a:ext>
            </a:extLst>
          </p:cNvPr>
          <p:cNvSpPr/>
          <p:nvPr/>
        </p:nvSpPr>
        <p:spPr>
          <a:xfrm>
            <a:off x="993926" y="2575947"/>
            <a:ext cx="9487894" cy="64197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2000" b="1">
                <a:latin typeface="Poppins"/>
                <a:cs typeface="Poppins"/>
              </a:rPr>
              <a:t>Creation of DB3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Derived from DB2 using the Synthetic Minority Over-sampling Technique (SMOTE) to balance classes. Major classes were set to 10,000 samples, while minor classes received proportionally smaller targets.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0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2000" b="1">
                <a:latin typeface="Poppins"/>
                <a:cs typeface="Poppins"/>
              </a:rPr>
              <a:t>Creation of DB4</a:t>
            </a:r>
          </a:p>
          <a:p>
            <a:pPr marL="285750" indent="-285750" algn="just">
              <a:lnSpc>
                <a:spcPct val="150000"/>
              </a:lnSpc>
              <a:buFont typeface="Arial,Sans-Serif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Built by augmenting the scarce normal class with 10,000 synthetically generated normal traffic vectors, compensating for the initially low count ( 477 rows). Other classes retained their original imbalance.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n-US" sz="20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2000" b="1">
                <a:latin typeface="Poppins"/>
                <a:cs typeface="Poppins"/>
              </a:rPr>
              <a:t>Creation of DB5</a:t>
            </a:r>
          </a:p>
          <a:p>
            <a:pPr marL="285750" indent="-285750" algn="just">
              <a:lnSpc>
                <a:spcPct val="150000"/>
              </a:lnSpc>
              <a:buFont typeface="Arial,Sans-Serif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Combined DB4’s augmented normal class data with SMOTE balancing applied to attack classes—merging realistic normal traffic samples with balanced attack representation.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1010A00A-455F-A64C-9ADC-34FBE86F3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508" y="3841296"/>
            <a:ext cx="6461413" cy="367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2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7F686-407A-FDF9-3D8E-B3BFA303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32D4CBEB-A28D-E28F-A124-AB93092E49B8}"/>
              </a:ext>
            </a:extLst>
          </p:cNvPr>
          <p:cNvSpPr/>
          <p:nvPr/>
        </p:nvSpPr>
        <p:spPr>
          <a:xfrm>
            <a:off x="914760" y="703110"/>
            <a:ext cx="4550975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solidFill>
                  <a:srgbClr val="000000"/>
                </a:solidFill>
                <a:latin typeface="Poppins"/>
                <a:cs typeface="Poppins"/>
              </a:rPr>
              <a:t>METHODOLOGY</a:t>
            </a:r>
            <a:endParaRPr lang="en-US"/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3BC67694-185F-8306-5EFF-D11CC700FED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32464D07-E629-D217-E749-51627A6CE876}"/>
              </a:ext>
            </a:extLst>
          </p:cNvPr>
          <p:cNvSpPr/>
          <p:nvPr/>
        </p:nvSpPr>
        <p:spPr>
          <a:xfrm>
            <a:off x="914759" y="2502964"/>
            <a:ext cx="6883979" cy="4171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Class Distribution of DB2, DB3, DB4 and DB5</a:t>
            </a:r>
            <a:endParaRPr lang="en-US" sz="2000"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2D3AEE-D7D1-C85C-A1B0-DF1D59A49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530456"/>
              </p:ext>
            </p:extLst>
          </p:nvPr>
        </p:nvGraphicFramePr>
        <p:xfrm>
          <a:off x="913212" y="3127129"/>
          <a:ext cx="14264628" cy="4820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9336">
                  <a:extLst>
                    <a:ext uri="{9D8B030D-6E8A-4147-A177-3AD203B41FA5}">
                      <a16:colId xmlns:a16="http://schemas.microsoft.com/office/drawing/2014/main" val="690415483"/>
                    </a:ext>
                  </a:extLst>
                </a:gridCol>
                <a:gridCol w="2478823">
                  <a:extLst>
                    <a:ext uri="{9D8B030D-6E8A-4147-A177-3AD203B41FA5}">
                      <a16:colId xmlns:a16="http://schemas.microsoft.com/office/drawing/2014/main" val="1787966390"/>
                    </a:ext>
                  </a:extLst>
                </a:gridCol>
                <a:gridCol w="2478823">
                  <a:extLst>
                    <a:ext uri="{9D8B030D-6E8A-4147-A177-3AD203B41FA5}">
                      <a16:colId xmlns:a16="http://schemas.microsoft.com/office/drawing/2014/main" val="2802285177"/>
                    </a:ext>
                  </a:extLst>
                </a:gridCol>
                <a:gridCol w="2478823">
                  <a:extLst>
                    <a:ext uri="{9D8B030D-6E8A-4147-A177-3AD203B41FA5}">
                      <a16:colId xmlns:a16="http://schemas.microsoft.com/office/drawing/2014/main" val="3771981401"/>
                    </a:ext>
                  </a:extLst>
                </a:gridCol>
                <a:gridCol w="2478823">
                  <a:extLst>
                    <a:ext uri="{9D8B030D-6E8A-4147-A177-3AD203B41FA5}">
                      <a16:colId xmlns:a16="http://schemas.microsoft.com/office/drawing/2014/main" val="3520678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>
                          <a:latin typeface="Poppins"/>
                        </a:rPr>
                        <a:t>Label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Poppins"/>
                        </a:rPr>
                        <a:t>DB2.csv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Poppins"/>
                        </a:rPr>
                        <a:t>DB3.csv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Poppins"/>
                        </a:rPr>
                        <a:t>DB4.csv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latin typeface="Poppins"/>
                        </a:rPr>
                        <a:t>DB5.csv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6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DDoS HTTP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989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Poppins"/>
                        </a:rPr>
                        <a:t>989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46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DDoS TCP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929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DDoS UDP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576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DoS HTTP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1485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Poppins"/>
                        </a:rPr>
                        <a:t>1485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288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DoS TCP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10000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4678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DoS UDP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25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Reconnaissance OS Fingerprint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24219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Reconnaissance Service Scan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76016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Theft Data Exfiltration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100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100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92607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Theft Key Logging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73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500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73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500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40069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Normal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Poppins"/>
                        </a:rPr>
                        <a:t>477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oppins"/>
                        </a:rPr>
                        <a:t>10000</a:t>
                      </a:r>
                      <a:endParaRPr lang="en-US" sz="180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29809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Poppins"/>
                        </a:rPr>
                        <a:t>Total</a:t>
                      </a:r>
                      <a:endParaRPr lang="en-US" sz="1800" b="1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Poppins"/>
                        </a:rPr>
                        <a:t>63030</a:t>
                      </a:r>
                      <a:endParaRPr lang="en-US" sz="1800" b="1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Poppins"/>
                        </a:rPr>
                        <a:t>90600</a:t>
                      </a:r>
                      <a:endParaRPr lang="en-US" sz="1800" b="1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Poppins"/>
                        </a:rPr>
                        <a:t>72553</a:t>
                      </a:r>
                      <a:endParaRPr lang="en-US" sz="1800" b="1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Poppins"/>
                        </a:rPr>
                        <a:t>90600</a:t>
                      </a:r>
                      <a:endParaRPr lang="en-US" sz="1800" b="1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432"/>
                  </a:ext>
                </a:extLst>
              </a:tr>
            </a:tbl>
          </a:graphicData>
        </a:graphic>
      </p:graphicFrame>
      <p:sp>
        <p:nvSpPr>
          <p:cNvPr id="6" name="TextBox 11">
            <a:extLst>
              <a:ext uri="{FF2B5EF4-FFF2-40B4-BE49-F238E27FC236}">
                <a16:creationId xmlns:a16="http://schemas.microsoft.com/office/drawing/2014/main" id="{E23C9FE7-8362-82D6-F69E-2D49C84B03C2}"/>
              </a:ext>
            </a:extLst>
          </p:cNvPr>
          <p:cNvSpPr/>
          <p:nvPr/>
        </p:nvSpPr>
        <p:spPr>
          <a:xfrm>
            <a:off x="914759" y="1805289"/>
            <a:ext cx="6739249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Dataset Labeling and Classification Setup</a:t>
            </a:r>
          </a:p>
        </p:txBody>
      </p:sp>
    </p:spTree>
    <p:extLst>
      <p:ext uri="{BB962C8B-B14F-4D97-AF65-F5344CB8AC3E}">
        <p14:creationId xmlns:p14="http://schemas.microsoft.com/office/powerpoint/2010/main" val="1158951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46599-6E7C-6354-374B-7350C7647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912F6907-80DC-5464-2926-A3CAD222781A}"/>
              </a:ext>
            </a:extLst>
          </p:cNvPr>
          <p:cNvSpPr/>
          <p:nvPr/>
        </p:nvSpPr>
        <p:spPr>
          <a:xfrm>
            <a:off x="914760" y="703110"/>
            <a:ext cx="4550975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solidFill>
                  <a:srgbClr val="000000"/>
                </a:solidFill>
                <a:latin typeface="Poppins"/>
                <a:cs typeface="Poppins"/>
              </a:rPr>
              <a:t>METHODOLOGY</a:t>
            </a:r>
            <a:endParaRPr lang="en-US"/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7ED8438B-C008-F396-E7C6-D078147FDDB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84BB1983-0ED2-2C77-1E5A-75A181172EC8}"/>
              </a:ext>
            </a:extLst>
          </p:cNvPr>
          <p:cNvSpPr/>
          <p:nvPr/>
        </p:nvSpPr>
        <p:spPr>
          <a:xfrm>
            <a:off x="914759" y="1805289"/>
            <a:ext cx="6739249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Model Training and Evaluation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FDD31852-B8BD-DAF1-44A0-CF2CB234F7C7}"/>
              </a:ext>
            </a:extLst>
          </p:cNvPr>
          <p:cNvSpPr/>
          <p:nvPr/>
        </p:nvSpPr>
        <p:spPr>
          <a:xfrm>
            <a:off x="919705" y="2382973"/>
            <a:ext cx="9873842" cy="42037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2000" b="1">
                <a:latin typeface="Poppins"/>
                <a:cs typeface="Poppins"/>
              </a:rPr>
              <a:t>Training and Evaluation Setup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Several classical machine learning models were trained and evaluated on the processed datasets: Decision Tree, Bagging Classifier, Random Forest, K-Nearest Neighbors, Linear Discriminant Analysis, and Support Vector Machine.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The dataset was split randomly into 70% training and 30% testing subsets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The SNN model was then implemented to leverage neuromorphic computing principles. The SNN architecture used fully connected layers with Leaky Integrate-and-Fire (LIF) neuron models.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88D196-6D54-BFD7-0D45-A8465C34E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547" y="2752725"/>
            <a:ext cx="5818166" cy="58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85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383C6-1B87-FC69-A449-2C1D09A6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2DAE2ABB-5CE3-1264-C5D7-6B528C0DE008}"/>
              </a:ext>
            </a:extLst>
          </p:cNvPr>
          <p:cNvSpPr/>
          <p:nvPr/>
        </p:nvSpPr>
        <p:spPr>
          <a:xfrm>
            <a:off x="914760" y="703110"/>
            <a:ext cx="4550975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solidFill>
                  <a:srgbClr val="000000"/>
                </a:solidFill>
                <a:latin typeface="Poppins"/>
                <a:cs typeface="Poppins"/>
              </a:rPr>
              <a:t>METHODOLOGY</a:t>
            </a:r>
            <a:endParaRPr lang="en-US"/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2EC41DE2-DAA4-0DCB-9B32-4166C0D44BF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76823195-B339-0D93-3318-CBABF7112F40}"/>
              </a:ext>
            </a:extLst>
          </p:cNvPr>
          <p:cNvSpPr/>
          <p:nvPr/>
        </p:nvSpPr>
        <p:spPr>
          <a:xfrm>
            <a:off x="914759" y="1805289"/>
            <a:ext cx="6739249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Real-time Prediction Pipeline</a:t>
            </a:r>
            <a:endParaRPr lang="en-US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FF3C9AD4-72CE-DDC5-A589-8C864E621D9A}"/>
              </a:ext>
            </a:extLst>
          </p:cNvPr>
          <p:cNvSpPr/>
          <p:nvPr/>
        </p:nvSpPr>
        <p:spPr>
          <a:xfrm>
            <a:off x="919705" y="2382973"/>
            <a:ext cx="5376063" cy="22647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This pipeline contains 4 main stages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Edge Device and Traffic Generator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Feature Vector Generation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Predictor Instance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Result Visualization Dashboard</a:t>
            </a:r>
          </a:p>
        </p:txBody>
      </p:sp>
      <p:pic>
        <p:nvPicPr>
          <p:cNvPr id="3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896D98C4-BFCE-BDD8-FD0A-CBA113D09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189" y="1810986"/>
            <a:ext cx="10469244" cy="789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888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967B-6B0A-19AC-08B8-CC2D29674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DEBD3999-1340-7495-B220-2EFD76DBF40C}"/>
              </a:ext>
            </a:extLst>
          </p:cNvPr>
          <p:cNvSpPr/>
          <p:nvPr/>
        </p:nvSpPr>
        <p:spPr>
          <a:xfrm>
            <a:off x="914760" y="703110"/>
            <a:ext cx="4550975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solidFill>
                  <a:srgbClr val="000000"/>
                </a:solidFill>
                <a:latin typeface="Poppins"/>
                <a:cs typeface="Poppins"/>
              </a:rPr>
              <a:t>METHODOLOGY</a:t>
            </a:r>
            <a:endParaRPr lang="en-US"/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2BEC2D80-61F9-529B-BB87-47EA971CEB5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972B1A43-63F4-6FDB-80F4-1989D5F7644E}"/>
              </a:ext>
            </a:extLst>
          </p:cNvPr>
          <p:cNvSpPr/>
          <p:nvPr/>
        </p:nvSpPr>
        <p:spPr>
          <a:xfrm>
            <a:off x="914759" y="1805289"/>
            <a:ext cx="6739249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Result Visualization Dashboard</a:t>
            </a:r>
            <a:endParaRPr lang="en-US"/>
          </a:p>
        </p:txBody>
      </p:sp>
      <p:pic>
        <p:nvPicPr>
          <p:cNvPr id="4" name="Picture 3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7511814F-9EE9-38C9-7545-05459B647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57" y="2450027"/>
            <a:ext cx="5253347" cy="709402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836A71-7A79-4896-3F28-87DF58F6C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143" y="2241467"/>
            <a:ext cx="11400312" cy="641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84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83B0-0858-21DE-6962-CF0419E5F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B82FE382-B726-37A1-9027-3BEBB560298E}"/>
              </a:ext>
            </a:extLst>
          </p:cNvPr>
          <p:cNvSpPr/>
          <p:nvPr/>
        </p:nvSpPr>
        <p:spPr>
          <a:xfrm>
            <a:off x="914760" y="703110"/>
            <a:ext cx="8692493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latin typeface="Poppins"/>
                <a:cs typeface="Poppins"/>
              </a:rPr>
              <a:t>RESULTS AND DISCUSSION</a:t>
            </a:r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1843596F-2A72-4A5E-AF74-8E42CFB0D9B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2D8B15DC-32BF-71CB-6E13-C9BC8624665C}"/>
              </a:ext>
            </a:extLst>
          </p:cNvPr>
          <p:cNvSpPr/>
          <p:nvPr/>
        </p:nvSpPr>
        <p:spPr>
          <a:xfrm>
            <a:off x="914759" y="1805289"/>
            <a:ext cx="6739249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Model Performance Evaluation - DB2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32E119-B0B9-8022-8526-50DB93349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728920"/>
              </p:ext>
            </p:extLst>
          </p:nvPr>
        </p:nvGraphicFramePr>
        <p:xfrm>
          <a:off x="2011680" y="2414610"/>
          <a:ext cx="14264632" cy="3219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662">
                  <a:extLst>
                    <a:ext uri="{9D8B030D-6E8A-4147-A177-3AD203B41FA5}">
                      <a16:colId xmlns:a16="http://schemas.microsoft.com/office/drawing/2014/main" val="1692950421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933380535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108701313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298106307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53638827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917250985"/>
                    </a:ext>
                  </a:extLst>
                </a:gridCol>
              </a:tblGrid>
              <a:tr h="402416"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Model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Accuracy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Precision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Recall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F1-Score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Time 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01357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Decision Tree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0.998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Poppins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Poppins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Poppins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0.3897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068053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Ensemble Bagging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0.9983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Poppins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Poppins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Poppins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3.3444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948089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Random Forest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0.999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Poppins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Poppins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Poppins"/>
                        </a:rPr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1.6932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268425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K-Nearest Neighbors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0.9455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0.95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0.95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0.95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1.1118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211360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Linear Discriminant Analysis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0.6136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0.67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0.61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0.59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0.1376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151517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Support Vector Machine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0.7158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0.75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0.72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364.2769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616315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Spiking Neural Network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0.9327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0.93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0.93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45.5894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954"/>
                  </a:ext>
                </a:extLst>
              </a:tr>
            </a:tbl>
          </a:graphicData>
        </a:graphic>
      </p:graphicFrame>
      <p:sp>
        <p:nvSpPr>
          <p:cNvPr id="8" name="TextBox 11">
            <a:extLst>
              <a:ext uri="{FF2B5EF4-FFF2-40B4-BE49-F238E27FC236}">
                <a16:creationId xmlns:a16="http://schemas.microsoft.com/office/drawing/2014/main" id="{6982338C-B9F6-003D-5E86-5A98249E5BF2}"/>
              </a:ext>
            </a:extLst>
          </p:cNvPr>
          <p:cNvSpPr/>
          <p:nvPr/>
        </p:nvSpPr>
        <p:spPr>
          <a:xfrm>
            <a:off x="919705" y="5930726"/>
            <a:ext cx="16434958" cy="27263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On DB2, tree-based models (DT, Bagging, RF) achieve perfect 1.00 precision, recall, and F1- scores with fast training times, demonstrating effectiveness on imbalanced datasets with strong feature separability. KNN also performs well at 95% across metrics.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However, LDA and SVM underperform (F1: 0.59 and 0.70) due to class imbalance and non-linear patterns. SNN achieves 93% accuracy and F1-score but shows lower recall for normal traffic, often misclassifying normal samples as DDoS TCP or DDoS HTTP.</a:t>
            </a:r>
          </a:p>
        </p:txBody>
      </p:sp>
    </p:spTree>
    <p:extLst>
      <p:ext uri="{BB962C8B-B14F-4D97-AF65-F5344CB8AC3E}">
        <p14:creationId xmlns:p14="http://schemas.microsoft.com/office/powerpoint/2010/main" val="1667617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A7092-563F-7E53-99D9-436A79FFD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9A7A2E51-4969-7D3C-658E-A515B3D194C6}"/>
              </a:ext>
            </a:extLst>
          </p:cNvPr>
          <p:cNvSpPr/>
          <p:nvPr/>
        </p:nvSpPr>
        <p:spPr>
          <a:xfrm>
            <a:off x="914760" y="703110"/>
            <a:ext cx="8692493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latin typeface="Poppins"/>
                <a:cs typeface="Poppins"/>
              </a:rPr>
              <a:t>RESULTS AND DISCUSSION</a:t>
            </a:r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00D93576-B78F-2F68-11D5-C4D8878B8F8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1FB6DBFA-6A0C-B1AF-C7AB-1A449E6B3BAF}"/>
              </a:ext>
            </a:extLst>
          </p:cNvPr>
          <p:cNvSpPr/>
          <p:nvPr/>
        </p:nvSpPr>
        <p:spPr>
          <a:xfrm>
            <a:off x="914759" y="1805289"/>
            <a:ext cx="6739249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Model Performance Evaluation - DB3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8DC0FC-CDF4-9EB6-3F63-D33484CA1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213216"/>
              </p:ext>
            </p:extLst>
          </p:nvPr>
        </p:nvGraphicFramePr>
        <p:xfrm>
          <a:off x="2011680" y="2414610"/>
          <a:ext cx="14264632" cy="3219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662">
                  <a:extLst>
                    <a:ext uri="{9D8B030D-6E8A-4147-A177-3AD203B41FA5}">
                      <a16:colId xmlns:a16="http://schemas.microsoft.com/office/drawing/2014/main" val="1692950421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933380535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108701313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298106307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53638827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917250985"/>
                    </a:ext>
                  </a:extLst>
                </a:gridCol>
              </a:tblGrid>
              <a:tr h="402416"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Model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Accuracy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Precision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Recall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F1-Score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Time 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01357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Decision Tree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0.9982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1.0804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068053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Ensemble Bagging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0.9987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7.2497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948089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Random Forest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0.999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3.9382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268425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K-Nearest Neighbors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0.9611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2.3949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211360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Linear Discriminant Analysis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0.6062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0.66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0.61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0.223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151517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Support Vector Machine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0.7547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0.8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0.75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693.8833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616315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Spiking Neural Network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0.937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63.9671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954"/>
                  </a:ext>
                </a:extLst>
              </a:tr>
            </a:tbl>
          </a:graphicData>
        </a:graphic>
      </p:graphicFrame>
      <p:sp>
        <p:nvSpPr>
          <p:cNvPr id="8" name="TextBox 11">
            <a:extLst>
              <a:ext uri="{FF2B5EF4-FFF2-40B4-BE49-F238E27FC236}">
                <a16:creationId xmlns:a16="http://schemas.microsoft.com/office/drawing/2014/main" id="{002F7B64-CD2B-9844-7394-C658E628369F}"/>
              </a:ext>
            </a:extLst>
          </p:cNvPr>
          <p:cNvSpPr/>
          <p:nvPr/>
        </p:nvSpPr>
        <p:spPr>
          <a:xfrm>
            <a:off x="919705" y="5930726"/>
            <a:ext cx="16434958" cy="18030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Tree-based models (DT, Bagging, RF) maintain perfect 1.00 scores with minimal training time increases. KNN improves to 96% across metrics, reducing majority class bias. LDA and SVM underperform (F1: 0.60, 0.74), struggling with multi-class complexity.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SNN benefits from balanced distribution, achieving 94% accuracy and F1-score with fewer misclassifications of normal traffic and rare classes.</a:t>
            </a:r>
          </a:p>
        </p:txBody>
      </p:sp>
    </p:spTree>
    <p:extLst>
      <p:ext uri="{BB962C8B-B14F-4D97-AF65-F5344CB8AC3E}">
        <p14:creationId xmlns:p14="http://schemas.microsoft.com/office/powerpoint/2010/main" val="2002295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9298F-12C4-69E2-687F-B2A4F28B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2FE7BDB7-9EBA-11F2-07DB-D39C84C6F4F8}"/>
              </a:ext>
            </a:extLst>
          </p:cNvPr>
          <p:cNvSpPr/>
          <p:nvPr/>
        </p:nvSpPr>
        <p:spPr>
          <a:xfrm>
            <a:off x="914760" y="703110"/>
            <a:ext cx="8692493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latin typeface="Poppins"/>
                <a:cs typeface="Poppins"/>
              </a:rPr>
              <a:t>RESULTS AND DISCUSSION</a:t>
            </a:r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650CAFE2-43F1-9942-7E4B-50486425122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34DF0B3B-D0A9-AEF3-09AA-1441D6AC01D7}"/>
              </a:ext>
            </a:extLst>
          </p:cNvPr>
          <p:cNvSpPr/>
          <p:nvPr/>
        </p:nvSpPr>
        <p:spPr>
          <a:xfrm>
            <a:off x="914759" y="1805289"/>
            <a:ext cx="6739249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Model Performance Evaluation - DB4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E0162A-1A03-24BB-B63A-B2FB3938A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345136"/>
              </p:ext>
            </p:extLst>
          </p:nvPr>
        </p:nvGraphicFramePr>
        <p:xfrm>
          <a:off x="2011680" y="2414610"/>
          <a:ext cx="14264632" cy="3219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662">
                  <a:extLst>
                    <a:ext uri="{9D8B030D-6E8A-4147-A177-3AD203B41FA5}">
                      <a16:colId xmlns:a16="http://schemas.microsoft.com/office/drawing/2014/main" val="1692950421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933380535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108701313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298106307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53638827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917250985"/>
                    </a:ext>
                  </a:extLst>
                </a:gridCol>
              </a:tblGrid>
              <a:tr h="402416"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Model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Accuracy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Precision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Recall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F1-Score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Poppins"/>
                        </a:rPr>
                        <a:t>Time 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01357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Decision Tree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0.998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0.4593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068053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Ensemble Bagging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0.9984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3.4666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948089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Random Forest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0.999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1.8228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268425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K-Nearest Neighbors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0.9422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0.9974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211360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Linear Discriminant Analysis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0.7734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0.79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0.77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0.77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0.1729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151517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Support Vector Machine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0.8303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0.86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0.83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0.83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232.1613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616315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Spiking Neural Network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0.9578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50.592</a:t>
                      </a:r>
                      <a:endParaRPr lang="en-US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954"/>
                  </a:ext>
                </a:extLst>
              </a:tr>
            </a:tbl>
          </a:graphicData>
        </a:graphic>
      </p:graphicFrame>
      <p:sp>
        <p:nvSpPr>
          <p:cNvPr id="8" name="TextBox 11">
            <a:extLst>
              <a:ext uri="{FF2B5EF4-FFF2-40B4-BE49-F238E27FC236}">
                <a16:creationId xmlns:a16="http://schemas.microsoft.com/office/drawing/2014/main" id="{4C8FF9D5-8E2A-BD48-42B6-914A746FA4B9}"/>
              </a:ext>
            </a:extLst>
          </p:cNvPr>
          <p:cNvSpPr/>
          <p:nvPr/>
        </p:nvSpPr>
        <p:spPr>
          <a:xfrm>
            <a:off x="919705" y="5930726"/>
            <a:ext cx="16434958" cy="22647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SNN and KNN show the most notable gains, with F1-scores rising to 0.96 and 0.94. Tree-based models achieve perfect 1.00 scores. This marks a key turning point: misclassification of normal flows as attacks drops drastically. LDA performance jumps to 0.77 F1, and SVM’s F1 climbs to 0.83.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Overall, DB4 demonstrates that realistic, sufficiently sampled benign data is essential for robust intrusion detection and real-world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486837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CA04-1080-7414-4BB9-E659CE2B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03F0BD37-C1F2-4481-35E6-855235A29545}"/>
              </a:ext>
            </a:extLst>
          </p:cNvPr>
          <p:cNvSpPr/>
          <p:nvPr/>
        </p:nvSpPr>
        <p:spPr>
          <a:xfrm>
            <a:off x="914760" y="703110"/>
            <a:ext cx="8692493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latin typeface="Poppins"/>
                <a:cs typeface="Poppins"/>
              </a:rPr>
              <a:t>RESULTS AND DISCUSSION</a:t>
            </a:r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81FCDAE7-6AAA-4CE4-4AB4-9F602412B56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8F9E3FF4-9655-3D47-3799-2A24D8CF9CDC}"/>
              </a:ext>
            </a:extLst>
          </p:cNvPr>
          <p:cNvSpPr/>
          <p:nvPr/>
        </p:nvSpPr>
        <p:spPr>
          <a:xfrm>
            <a:off x="914759" y="1805289"/>
            <a:ext cx="6739249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Model Performance Evaluation - DB5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FF8EFE-C756-2128-11FD-6E4D9445C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183053"/>
              </p:ext>
            </p:extLst>
          </p:nvPr>
        </p:nvGraphicFramePr>
        <p:xfrm>
          <a:off x="2011680" y="2414610"/>
          <a:ext cx="14264632" cy="3219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1662">
                  <a:extLst>
                    <a:ext uri="{9D8B030D-6E8A-4147-A177-3AD203B41FA5}">
                      <a16:colId xmlns:a16="http://schemas.microsoft.com/office/drawing/2014/main" val="1692950421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933380535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108701313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298106307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536388273"/>
                    </a:ext>
                  </a:extLst>
                </a:gridCol>
                <a:gridCol w="2122594">
                  <a:extLst>
                    <a:ext uri="{9D8B030D-6E8A-4147-A177-3AD203B41FA5}">
                      <a16:colId xmlns:a16="http://schemas.microsoft.com/office/drawing/2014/main" val="917250985"/>
                    </a:ext>
                  </a:extLst>
                </a:gridCol>
              </a:tblGrid>
              <a:tr h="402416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latin typeface="Poppins"/>
                        </a:rPr>
                        <a:t>Model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latin typeface="Poppins"/>
                        </a:rPr>
                        <a:t>Accuracy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latin typeface="Poppins"/>
                        </a:rPr>
                        <a:t>Precision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latin typeface="Poppins"/>
                        </a:rPr>
                        <a:t>Recall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latin typeface="Poppins"/>
                        </a:rPr>
                        <a:t>F1-Score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latin typeface="Poppins"/>
                        </a:rPr>
                        <a:t>Time (s)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01357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Decision Tree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0.9983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0.5989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068053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Ensemble Bagging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0.9989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4.2821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948089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Random Forest Classifier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0.9991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b="0">
                          <a:latin typeface="Poppins"/>
                        </a:rPr>
                        <a:t>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2.4409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268425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K-Nearest Neighbors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0.9538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0.95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0.95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0.95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1.3682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211360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Linear Discriminant Analysis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0.76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0.78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0.76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0.75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0.1963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151517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Support Vector Machine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0.8501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0.87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0.85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0.85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318.0939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616315"/>
                  </a:ext>
                </a:extLst>
              </a:tr>
              <a:tr h="40241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Spiking Neural Network</a:t>
                      </a:r>
                      <a:endParaRPr lang="en-US" b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0.9617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0.96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Poppins"/>
                        </a:rPr>
                        <a:t>64.3562</a:t>
                      </a:r>
                      <a:endParaRPr lang="en-US" dirty="0">
                        <a:latin typeface="Poppin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954"/>
                  </a:ext>
                </a:extLst>
              </a:tr>
            </a:tbl>
          </a:graphicData>
        </a:graphic>
      </p:graphicFrame>
      <p:sp>
        <p:nvSpPr>
          <p:cNvPr id="8" name="TextBox 11">
            <a:extLst>
              <a:ext uri="{FF2B5EF4-FFF2-40B4-BE49-F238E27FC236}">
                <a16:creationId xmlns:a16="http://schemas.microsoft.com/office/drawing/2014/main" id="{1320AB53-D5B7-D7E2-BE11-12EF739528BD}"/>
              </a:ext>
            </a:extLst>
          </p:cNvPr>
          <p:cNvSpPr/>
          <p:nvPr/>
        </p:nvSpPr>
        <p:spPr>
          <a:xfrm>
            <a:off x="919705" y="5930726"/>
            <a:ext cx="16434958" cy="13413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cs typeface="Poppins"/>
              </a:rPr>
              <a:t>Ensemble models reach near-perfect scores. KNN stabilizes at 95%, LDA at F1 0.75, and SVM at 0.85. SNN achieves its best results—96% accuracy and F1- score—handling major attacks and normal flows with minimal misclassifications. Weaknesses persist only in the rarest classes (keylogging and data exfiltration).</a:t>
            </a:r>
          </a:p>
        </p:txBody>
      </p:sp>
    </p:spTree>
    <p:extLst>
      <p:ext uri="{BB962C8B-B14F-4D97-AF65-F5344CB8AC3E}">
        <p14:creationId xmlns:p14="http://schemas.microsoft.com/office/powerpoint/2010/main" val="3641349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7B5C1-9F28-5145-5775-82CDAB884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">
            <a:extLst>
              <a:ext uri="{FF2B5EF4-FFF2-40B4-BE49-F238E27FC236}">
                <a16:creationId xmlns:a16="http://schemas.microsoft.com/office/drawing/2014/main" id="{C365AF92-5090-5589-4012-F43C0DCFD08A}"/>
              </a:ext>
            </a:extLst>
          </p:cNvPr>
          <p:cNvSpPr/>
          <p:nvPr/>
        </p:nvSpPr>
        <p:spPr>
          <a:xfrm>
            <a:off x="914760" y="703110"/>
            <a:ext cx="8692493" cy="754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6160"/>
              </a:lnSpc>
              <a:tabLst>
                <a:tab pos="0" algn="l"/>
              </a:tabLst>
            </a:pPr>
            <a:r>
              <a:rPr lang="en-US" sz="4400" spc="219">
                <a:latin typeface="Poppins"/>
                <a:cs typeface="Poppins"/>
              </a:rPr>
              <a:t>RESULTS AND DISCUSSION</a:t>
            </a:r>
          </a:p>
        </p:txBody>
      </p:sp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8954C83B-2293-2141-0E57-B2C9D20675C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833CEF3D-B1E0-117B-687B-3980C56DF87B}"/>
              </a:ext>
            </a:extLst>
          </p:cNvPr>
          <p:cNvSpPr/>
          <p:nvPr/>
        </p:nvSpPr>
        <p:spPr>
          <a:xfrm>
            <a:off x="914759" y="1805289"/>
            <a:ext cx="8344891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2000" b="1" spc="219">
                <a:latin typeface="Poppins"/>
                <a:cs typeface="Poppins"/>
              </a:rPr>
              <a:t>Classification Matrix of SNN Model trained on DB5</a:t>
            </a:r>
            <a:endParaRPr lang="en-US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8811C08E-4249-F55E-1D97-F63C7836609C}"/>
              </a:ext>
            </a:extLst>
          </p:cNvPr>
          <p:cNvSpPr/>
          <p:nvPr/>
        </p:nvSpPr>
        <p:spPr>
          <a:xfrm>
            <a:off x="919705" y="2379261"/>
            <a:ext cx="6583387" cy="31870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  <a:tabLst>
                <a:tab pos="0" algn="l"/>
              </a:tabLst>
            </a:pPr>
            <a:r>
              <a:rPr lang="en-US" sz="2000">
                <a:latin typeface="Poppins"/>
                <a:ea typeface="+mn-lt"/>
                <a:cs typeface="Poppins"/>
              </a:rPr>
              <a:t>The SNN model trained on DB5, it is observed from the classification matrix that both classes achieve high accuracy. The confusion matrix becomes mostly diagonal, indicating robust separation for well-represented classes, though rare classes like keylogging and data exfiltration remain challenging.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53E77F-E3DF-F788-8143-942F2BDCD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357" y="2109107"/>
            <a:ext cx="9429750" cy="78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01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74A04-68BA-815D-3A1A-030CC8D3D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1951E13D-6A13-7B13-4799-C528CC7B585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F5AAB07-F401-32B7-C355-52701286C6A7}"/>
              </a:ext>
            </a:extLst>
          </p:cNvPr>
          <p:cNvGrpSpPr/>
          <p:nvPr/>
        </p:nvGrpSpPr>
        <p:grpSpPr>
          <a:xfrm>
            <a:off x="899914" y="2524125"/>
            <a:ext cx="16439905" cy="5240515"/>
            <a:chOff x="899914" y="2573474"/>
            <a:chExt cx="16439905" cy="5240515"/>
          </a:xfrm>
        </p:grpSpPr>
        <p:sp>
          <p:nvSpPr>
            <p:cNvPr id="116" name="TextBox 11">
              <a:extLst>
                <a:ext uri="{FF2B5EF4-FFF2-40B4-BE49-F238E27FC236}">
                  <a16:creationId xmlns:a16="http://schemas.microsoft.com/office/drawing/2014/main" id="{0200D4DF-D88F-2C17-CB64-964B35A7AE95}"/>
                </a:ext>
              </a:extLst>
            </p:cNvPr>
            <p:cNvSpPr/>
            <p:nvPr/>
          </p:nvSpPr>
          <p:spPr>
            <a:xfrm>
              <a:off x="899916" y="2573474"/>
              <a:ext cx="8692493" cy="75430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spc="219">
                  <a:latin typeface="Poppins"/>
                  <a:cs typeface="Poppins"/>
                </a:rPr>
                <a:t>RESULTS AND DISCUSSION</a:t>
              </a:r>
            </a:p>
          </p:txBody>
        </p:sp>
        <p:sp>
          <p:nvSpPr>
            <p:cNvPr id="2" name="TextBox 11">
              <a:extLst>
                <a:ext uri="{FF2B5EF4-FFF2-40B4-BE49-F238E27FC236}">
                  <a16:creationId xmlns:a16="http://schemas.microsoft.com/office/drawing/2014/main" id="{2B784D6F-89E0-CE56-73EF-EBD6676AC096}"/>
                </a:ext>
              </a:extLst>
            </p:cNvPr>
            <p:cNvSpPr/>
            <p:nvPr/>
          </p:nvSpPr>
          <p:spPr>
            <a:xfrm>
              <a:off x="899914" y="3601432"/>
              <a:ext cx="9811987" cy="3077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>
                <a:tabLst>
                  <a:tab pos="0" algn="l"/>
                </a:tabLst>
              </a:pPr>
              <a:r>
                <a:rPr lang="en-US" sz="2000" b="1" spc="219">
                  <a:latin typeface="Poppins"/>
                  <a:ea typeface="Calibri"/>
                  <a:cs typeface="Poppins"/>
                </a:rPr>
                <a:t>Real-World Attack Evaluation and Prediction Quality</a:t>
              </a:r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5B72024F-DB4F-E1B9-EECC-0BFEE3DAC4FD}"/>
                </a:ext>
              </a:extLst>
            </p:cNvPr>
            <p:cNvSpPr/>
            <p:nvPr/>
          </p:nvSpPr>
          <p:spPr>
            <a:xfrm>
              <a:off x="904861" y="4164272"/>
              <a:ext cx="16434958" cy="364971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While the models look great on paper, real-time traffic reveals some gaps—many DoS and DDoS attacks end up grouped under a single label, and subtle categories like data exfiltration or keylogging often get missed.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This mostly happens because the Bot-IoT dataset is built in a controlled, lab setting, which doesn’t capture all the messy unpredictability seen in the real world.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To balance out rare attack types, we rely on synthetic data (via SMOTE), but this approach can’t fully mimic the complexity of actual, live threats.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These results really highlight the need for robust, ongoing validation with real traffic and continuous improvement of our datasets if we want the models to work reliably in the field.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6208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27D9C-0C7A-443A-ECFC-9F2155B0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F2768D06-72E1-D43D-4A05-6C084CE88D6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F044FDB-FA45-ED7D-B33C-8A45D8C4087D}"/>
              </a:ext>
            </a:extLst>
          </p:cNvPr>
          <p:cNvGrpSpPr/>
          <p:nvPr/>
        </p:nvGrpSpPr>
        <p:grpSpPr>
          <a:xfrm>
            <a:off x="766319" y="2598964"/>
            <a:ext cx="16439903" cy="5093570"/>
            <a:chOff x="766319" y="2796135"/>
            <a:chExt cx="16439903" cy="5093570"/>
          </a:xfrm>
        </p:grpSpPr>
        <p:sp>
          <p:nvSpPr>
            <p:cNvPr id="116" name="TextBox 11">
              <a:extLst>
                <a:ext uri="{FF2B5EF4-FFF2-40B4-BE49-F238E27FC236}">
                  <a16:creationId xmlns:a16="http://schemas.microsoft.com/office/drawing/2014/main" id="{B5B46411-E5EA-7C20-D80A-0C19B62841E0}"/>
                </a:ext>
              </a:extLst>
            </p:cNvPr>
            <p:cNvSpPr/>
            <p:nvPr/>
          </p:nvSpPr>
          <p:spPr>
            <a:xfrm>
              <a:off x="766319" y="2796135"/>
              <a:ext cx="9820648" cy="75225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spc="219">
                  <a:latin typeface="Poppins"/>
                  <a:cs typeface="Poppins"/>
                </a:rPr>
                <a:t>LIMITATIONS AND FUTURE WORK</a:t>
              </a:r>
              <a:endParaRPr lang="en-US"/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DB205825-AF98-68A2-474D-9C5AA9594E17}"/>
                </a:ext>
              </a:extLst>
            </p:cNvPr>
            <p:cNvSpPr/>
            <p:nvPr/>
          </p:nvSpPr>
          <p:spPr>
            <a:xfrm>
              <a:off x="771264" y="3778323"/>
              <a:ext cx="16434958" cy="411138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The main challenge comes from using the Bot-IoT dataset, which was built in a lab environment and doesn’t capture the true variety, timing, or unpredictability found in real networks.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Balancing the dataset with techniques like SMOTE helps handle underrepresented attacks, but still can’t fully reflect how new or rare attacks look in the wild.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When tested in real time, the models sometimes confuse similar attacks, showing the need for constant model updates and smarter, more representative data.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Looking ahead, using reinforcement learning and tools like Argus to generate custom, real-world datasets—and adding features like automated retraining and attack drift detection—will be key for making these systems work reliably in ever-changing IoT networks.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6589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21210-D6C1-7DA3-78EB-EBBC0AD53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E590856A-BA39-23D9-1106-123614D7B55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35FE2300-D974-B413-AC5E-94EC0902D741}"/>
              </a:ext>
            </a:extLst>
          </p:cNvPr>
          <p:cNvSpPr/>
          <p:nvPr/>
        </p:nvSpPr>
        <p:spPr>
          <a:xfrm>
            <a:off x="914759" y="1805289"/>
            <a:ext cx="9811987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endParaRPr lang="en-US" sz="2000" b="1" spc="219">
              <a:latin typeface="Poppins"/>
              <a:ea typeface="Calibri"/>
              <a:cs typeface="Poppin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3AD6DC-16E2-6DA3-CECE-35D05EAAF714}"/>
              </a:ext>
            </a:extLst>
          </p:cNvPr>
          <p:cNvGrpSpPr/>
          <p:nvPr/>
        </p:nvGrpSpPr>
        <p:grpSpPr>
          <a:xfrm>
            <a:off x="815796" y="3755571"/>
            <a:ext cx="16434958" cy="2785246"/>
            <a:chOff x="815796" y="3345369"/>
            <a:chExt cx="16434958" cy="2785246"/>
          </a:xfrm>
        </p:grpSpPr>
        <p:sp>
          <p:nvSpPr>
            <p:cNvPr id="116" name="TextBox 11">
              <a:extLst>
                <a:ext uri="{FF2B5EF4-FFF2-40B4-BE49-F238E27FC236}">
                  <a16:creationId xmlns:a16="http://schemas.microsoft.com/office/drawing/2014/main" id="{B18CD20A-ED82-9C73-0916-11E031583023}"/>
                </a:ext>
              </a:extLst>
            </p:cNvPr>
            <p:cNvSpPr/>
            <p:nvPr/>
          </p:nvSpPr>
          <p:spPr>
            <a:xfrm>
              <a:off x="914760" y="3345369"/>
              <a:ext cx="9820648" cy="75225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spc="219">
                  <a:latin typeface="Poppins"/>
                  <a:cs typeface="Poppins"/>
                </a:rPr>
                <a:t>CONCLUSION</a:t>
              </a:r>
              <a:endParaRPr lang="en-US"/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11D0C0C3-A90A-AFEC-510A-957C33C16162}"/>
                </a:ext>
              </a:extLst>
            </p:cNvPr>
            <p:cNvSpPr/>
            <p:nvPr/>
          </p:nvSpPr>
          <p:spPr>
            <a:xfrm>
              <a:off x="815796" y="4327557"/>
              <a:ext cx="16434958" cy="180305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The SNN-based system, combined with ensemble classifiers, achieves over 96% detection accuracy on IoT attacks.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Covers the full pipeline from packet capture to real-time alerting and edge deployment.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Synthetic and lab-based data limits some real-world effectiveness, but overall results show strong potential.</a:t>
              </a:r>
            </a:p>
            <a:p>
              <a:pPr marL="285750" indent="-285750" algn="just">
                <a:lnSpc>
                  <a:spcPct val="150000"/>
                </a:lnSpc>
                <a:buFont typeface="Arial"/>
                <a:buChar char="•"/>
                <a:tabLst>
                  <a:tab pos="0" algn="l"/>
                </a:tabLst>
              </a:pPr>
              <a:r>
                <a:rPr lang="en-US" sz="2000">
                  <a:latin typeface="Poppins"/>
                  <a:cs typeface="Poppins"/>
                </a:rPr>
                <a:t>Future work aims to make the system more adaptive by using reinforcement learning and custom, locally generated datasets.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8645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CB92-F552-01A8-A458-C809385E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2" descr="A pink and black logo&#10;&#10;AI-generated content may be incorrect.">
            <a:extLst>
              <a:ext uri="{FF2B5EF4-FFF2-40B4-BE49-F238E27FC236}">
                <a16:creationId xmlns:a16="http://schemas.microsoft.com/office/drawing/2014/main" id="{8F162667-866B-B3CE-941E-DDB27A930F4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3793040" y="571680"/>
            <a:ext cx="3555720" cy="914040"/>
          </a:xfrm>
          <a:prstGeom prst="rect">
            <a:avLst/>
          </a:prstGeom>
          <a:ln w="0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9F44A91-ADF7-49CC-8120-73E442EB6A43}"/>
              </a:ext>
            </a:extLst>
          </p:cNvPr>
          <p:cNvGrpSpPr/>
          <p:nvPr/>
        </p:nvGrpSpPr>
        <p:grpSpPr>
          <a:xfrm>
            <a:off x="913802" y="938893"/>
            <a:ext cx="16434958" cy="7950569"/>
            <a:chOff x="913802" y="733463"/>
            <a:chExt cx="16434958" cy="7950569"/>
          </a:xfrm>
        </p:grpSpPr>
        <p:sp>
          <p:nvSpPr>
            <p:cNvPr id="116" name="TextBox 11">
              <a:extLst>
                <a:ext uri="{FF2B5EF4-FFF2-40B4-BE49-F238E27FC236}">
                  <a16:creationId xmlns:a16="http://schemas.microsoft.com/office/drawing/2014/main" id="{964075AF-DFCE-E5D7-8023-6A7B4442DC79}"/>
                </a:ext>
              </a:extLst>
            </p:cNvPr>
            <p:cNvSpPr/>
            <p:nvPr/>
          </p:nvSpPr>
          <p:spPr>
            <a:xfrm>
              <a:off x="939240" y="733463"/>
              <a:ext cx="5827320" cy="75225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6160"/>
                </a:lnSpc>
                <a:tabLst>
                  <a:tab pos="0" algn="l"/>
                </a:tabLst>
              </a:pPr>
              <a:r>
                <a:rPr lang="en-US" sz="4400" spc="219">
                  <a:latin typeface="Poppins"/>
                  <a:cs typeface="Poppins"/>
                </a:rPr>
                <a:t>LIST OF REFERENCES</a:t>
              </a:r>
              <a:endParaRPr lang="en-US"/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ED9092A7-DF91-59D2-A10C-6D4A86AB6696}"/>
                </a:ext>
              </a:extLst>
            </p:cNvPr>
            <p:cNvSpPr/>
            <p:nvPr/>
          </p:nvSpPr>
          <p:spPr>
            <a:xfrm>
              <a:off x="913802" y="1805289"/>
              <a:ext cx="16434958" cy="68787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0" tIns="0" rIns="0" bIns="0" anchor="t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2000" err="1">
                  <a:latin typeface="Poppins"/>
                  <a:cs typeface="Poppins"/>
                </a:rPr>
                <a:t>Khaleefah</a:t>
              </a:r>
              <a:r>
                <a:rPr lang="en-IN" sz="2000">
                  <a:latin typeface="Poppins"/>
                  <a:cs typeface="Poppins"/>
                </a:rPr>
                <a:t>, A. D., &amp; Al-Mashhadi, H. M. (2023). "Detection of IoT Botnet Cyber Attacks using Machine Learning Algorithms." </a:t>
              </a:r>
              <a:r>
                <a:rPr lang="en-IN" sz="2000" i="1">
                  <a:latin typeface="Poppins"/>
                  <a:cs typeface="Poppins"/>
                </a:rPr>
                <a:t>Informatica</a:t>
              </a:r>
              <a:r>
                <a:rPr lang="en-IN" sz="2000">
                  <a:latin typeface="Poppins"/>
                  <a:cs typeface="Poppins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AutoNum type="arabicPeriod"/>
              </a:pPr>
              <a:r>
                <a:rPr lang="en-IN" sz="2000" err="1">
                  <a:latin typeface="Poppins"/>
                  <a:cs typeface="Poppins"/>
                </a:rPr>
                <a:t>Koroniotis</a:t>
              </a:r>
              <a:r>
                <a:rPr lang="en-IN" sz="2000">
                  <a:latin typeface="Poppins"/>
                  <a:cs typeface="Poppins"/>
                </a:rPr>
                <a:t>, et al. (2019). "Towards the development of realistic botnet dataset in the internet of things for network forensic analytics: Bot-</a:t>
              </a:r>
              <a:r>
                <a:rPr lang="en-IN" sz="2000" err="1">
                  <a:latin typeface="Poppins"/>
                  <a:cs typeface="Poppins"/>
                </a:rPr>
                <a:t>iot</a:t>
              </a:r>
              <a:r>
                <a:rPr lang="en-IN" sz="2000">
                  <a:latin typeface="Poppins"/>
                  <a:cs typeface="Poppins"/>
                </a:rPr>
                <a:t> dataset." </a:t>
              </a:r>
              <a:r>
                <a:rPr lang="en-IN" sz="2000" i="1">
                  <a:latin typeface="Poppins"/>
                  <a:cs typeface="Poppins"/>
                </a:rPr>
                <a:t>Future Generation Computer Systems 100</a:t>
              </a:r>
              <a:r>
                <a:rPr lang="en-IN" sz="2000">
                  <a:latin typeface="Poppins"/>
                  <a:cs typeface="Poppins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AutoNum type="arabicPeriod"/>
              </a:pPr>
              <a:r>
                <a:rPr lang="en-IN" sz="2000">
                  <a:latin typeface="Poppins"/>
                  <a:cs typeface="Poppins"/>
                </a:rPr>
                <a:t>Rahman, T., et al. (2025). "A survey on intrusion detection system in IoT networks." </a:t>
              </a:r>
              <a:r>
                <a:rPr lang="en-IN" sz="2000" i="1">
                  <a:latin typeface="Poppins"/>
                  <a:cs typeface="Poppins"/>
                </a:rPr>
                <a:t>Elsevier</a:t>
              </a:r>
              <a:r>
                <a:rPr lang="en-IN" sz="2000">
                  <a:latin typeface="Poppins"/>
                  <a:cs typeface="Poppins"/>
                </a:rPr>
                <a:t>.​</a:t>
              </a:r>
              <a:endParaRPr lang="en-IN">
                <a:ea typeface="Calibri"/>
                <a:cs typeface="Calibri"/>
              </a:endParaRPr>
            </a:p>
            <a:p>
              <a:pPr marL="342900" indent="-3429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2000">
                  <a:latin typeface="Poppins"/>
                  <a:cs typeface="Poppins"/>
                </a:rPr>
                <a:t>Amine, M. S., et al. (2025). "Improved model for intrusion detection in the Internet of Things." </a:t>
              </a:r>
              <a:r>
                <a:rPr lang="en-IN" sz="2000" i="1">
                  <a:latin typeface="Poppins"/>
                  <a:cs typeface="Poppins"/>
                </a:rPr>
                <a:t>Nature</a:t>
              </a:r>
              <a:r>
                <a:rPr lang="en-IN" sz="2000">
                  <a:latin typeface="Poppins"/>
                  <a:cs typeface="Poppins"/>
                </a:rPr>
                <a:t>.​</a:t>
              </a:r>
            </a:p>
            <a:p>
              <a:pPr marL="342900" indent="-3429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2000" err="1">
                  <a:latin typeface="Poppins"/>
                  <a:cs typeface="Poppins"/>
                </a:rPr>
                <a:t>Alosaimi</a:t>
              </a:r>
              <a:r>
                <a:rPr lang="en-IN" sz="2000">
                  <a:latin typeface="Poppins"/>
                  <a:cs typeface="Poppins"/>
                </a:rPr>
                <a:t>, S., &amp; Almutairi, S. M. (2023). An intrusion detection system using BOT-IoT. </a:t>
              </a:r>
              <a:r>
                <a:rPr lang="en-IN" sz="2000" i="1">
                  <a:latin typeface="Poppins"/>
                  <a:cs typeface="Poppins"/>
                </a:rPr>
                <a:t>Applied Sciences</a:t>
              </a:r>
              <a:r>
                <a:rPr lang="en-IN" sz="2000">
                  <a:latin typeface="Poppins"/>
                  <a:cs typeface="Poppins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2000">
                  <a:latin typeface="Poppins"/>
                  <a:cs typeface="Poppins"/>
                </a:rPr>
                <a:t>Sharma, P., et al. (2025). "Leveraging AI for Intrusion Detection in IoT Ecosystems." </a:t>
              </a:r>
              <a:r>
                <a:rPr lang="en-IN" sz="2000" i="1">
                  <a:latin typeface="Poppins"/>
                  <a:cs typeface="Poppins"/>
                </a:rPr>
                <a:t>IEEE</a:t>
              </a:r>
              <a:r>
                <a:rPr lang="en-IN" sz="2000">
                  <a:latin typeface="Poppins"/>
                  <a:cs typeface="Poppins"/>
                </a:rPr>
                <a:t>.​</a:t>
              </a:r>
            </a:p>
            <a:p>
              <a:pPr marL="342900" indent="-3429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2000" err="1">
                  <a:latin typeface="Poppins"/>
                  <a:cs typeface="Poppins"/>
                </a:rPr>
                <a:t>Qaddos</a:t>
              </a:r>
              <a:r>
                <a:rPr lang="en-IN" sz="2000">
                  <a:latin typeface="Poppins"/>
                  <a:cs typeface="Poppins"/>
                </a:rPr>
                <a:t>, M., et al. (2024). "A novel intrusion detection framework for optimizing IoT security using hybrid CNN-GRU models." </a:t>
              </a:r>
              <a:r>
                <a:rPr lang="en-IN" sz="2000" i="1">
                  <a:latin typeface="Poppins"/>
                  <a:cs typeface="Poppins"/>
                </a:rPr>
                <a:t>Nature</a:t>
              </a:r>
              <a:r>
                <a:rPr lang="en-IN" sz="2000">
                  <a:latin typeface="Poppins"/>
                  <a:cs typeface="Poppins"/>
                </a:rPr>
                <a:t>.​</a:t>
              </a:r>
            </a:p>
            <a:p>
              <a:pPr marL="342900" indent="-3429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2000">
                  <a:latin typeface="Poppins"/>
                  <a:cs typeface="Poppins"/>
                </a:rPr>
                <a:t>Wang, J., et al. (2024). "An efficient intrusion detection model based on Spiking Neural Networks." </a:t>
              </a:r>
              <a:r>
                <a:rPr lang="en-IN" sz="2000" i="1">
                  <a:latin typeface="Poppins"/>
                  <a:cs typeface="Poppins"/>
                </a:rPr>
                <a:t>Nature</a:t>
              </a:r>
              <a:r>
                <a:rPr lang="en-IN" sz="2000">
                  <a:latin typeface="Poppins"/>
                  <a:cs typeface="Poppins"/>
                </a:rPr>
                <a:t>.​</a:t>
              </a:r>
            </a:p>
            <a:p>
              <a:pPr marL="342900" indent="-3429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2000">
                  <a:latin typeface="Poppins"/>
                  <a:cs typeface="Poppins"/>
                </a:rPr>
                <a:t>Yarga, S., Wood, D., et al. (2024). "Direct training high-performance deep spiking neural networks." </a:t>
              </a:r>
              <a:r>
                <a:rPr lang="en-IN" sz="2000" i="1">
                  <a:latin typeface="Poppins"/>
                  <a:cs typeface="Poppins"/>
                </a:rPr>
                <a:t>Frontiers in Neuroscience</a:t>
              </a:r>
              <a:r>
                <a:rPr lang="en-IN" sz="2000">
                  <a:latin typeface="Poppins"/>
                  <a:cs typeface="Poppins"/>
                </a:rPr>
                <a:t>.​</a:t>
              </a:r>
            </a:p>
            <a:p>
              <a:pPr marL="342900" indent="-3429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2000">
                  <a:latin typeface="Poppins"/>
                  <a:cs typeface="Poppins"/>
                </a:rPr>
                <a:t>Rahman, P. M., et al. (2023). "Exploring spiking neural networks: A comprehensive analysis of models, performance, and limitations." </a:t>
              </a:r>
              <a:r>
                <a:rPr lang="en-IN" sz="2000" i="1">
                  <a:latin typeface="Poppins"/>
                  <a:cs typeface="Poppins"/>
                </a:rPr>
                <a:t>PubMed</a:t>
              </a:r>
              <a:r>
                <a:rPr lang="en-IN" sz="2000">
                  <a:latin typeface="Poppins"/>
                  <a:cs typeface="Poppins"/>
                </a:rPr>
                <a:t>.​</a:t>
              </a:r>
            </a:p>
            <a:p>
              <a:pPr marL="342900" indent="-342900" algn="just">
                <a:lnSpc>
                  <a:spcPct val="150000"/>
                </a:lnSpc>
                <a:buFont typeface="+mj-lt"/>
                <a:buAutoNum type="arabicPeriod"/>
              </a:pPr>
              <a:r>
                <a:rPr lang="en-IN" sz="2000">
                  <a:latin typeface="Poppins"/>
                  <a:cs typeface="Poppins"/>
                </a:rPr>
                <a:t>Manivannan, S., et al. (2024). "Recent endeavours in machine learning-powered intrusion detection systems for IoT." </a:t>
              </a:r>
              <a:r>
                <a:rPr lang="en-IN" sz="2000" i="1">
                  <a:latin typeface="Poppins"/>
                  <a:cs typeface="Poppins"/>
                </a:rPr>
                <a:t>Elsevier</a:t>
              </a:r>
              <a:r>
                <a:rPr lang="en-IN" sz="2000">
                  <a:latin typeface="Poppins"/>
                  <a:cs typeface="Poppins"/>
                </a:rPr>
                <a:t>.​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4036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1185</TotalTime>
  <Words>3993</Words>
  <Application>Microsoft Office PowerPoint</Application>
  <PresentationFormat>Custom</PresentationFormat>
  <Paragraphs>537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Arial,Sans-Serif</vt:lpstr>
      <vt:lpstr>Calibri</vt:lpstr>
      <vt:lpstr>Heebo Bold</vt:lpstr>
      <vt:lpstr>Helios Extended Bold</vt:lpstr>
      <vt:lpstr>Poppins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Lab ppt</dc:title>
  <dc:subject/>
  <dc:creator>Shashank R</dc:creator>
  <dc:description/>
  <cp:lastModifiedBy>Lasyapriya Bharadwaj</cp:lastModifiedBy>
  <cp:revision>28</cp:revision>
  <dcterms:created xsi:type="dcterms:W3CDTF">2006-08-16T00:00:00Z</dcterms:created>
  <dcterms:modified xsi:type="dcterms:W3CDTF">2025-10-28T06:27:31Z</dcterms:modified>
  <dc:identifier>DAGeniyMPBI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0x0101006E8DF0E3769A314E9F748ACD9AB1EB6D</vt:lpwstr>
  </property>
  <property fmtid="{D5CDD505-2E9C-101B-9397-08002B2CF9AE}" pid="3" name="MSIP_Label_defa4170-0d19-0005-0004-bc88714345d2_ActionId">
    <vt:lpwstr>cf354290-16f7-4296-b091-4c1550c4e9c5</vt:lpwstr>
  </property>
  <property fmtid="{D5CDD505-2E9C-101B-9397-08002B2CF9AE}" pid="4" name="MSIP_Label_defa4170-0d19-0005-0004-bc88714345d2_ContentBits">
    <vt:lpwstr>0</vt:lpwstr>
  </property>
  <property fmtid="{D5CDD505-2E9C-101B-9397-08002B2CF9AE}" pid="5" name="MSIP_Label_defa4170-0d19-0005-0004-bc88714345d2_Enabled">
    <vt:lpwstr>true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etDate">
    <vt:lpwstr>2025-02-13T05:27:51Z</vt:lpwstr>
  </property>
  <property fmtid="{D5CDD505-2E9C-101B-9397-08002B2CF9AE}" pid="9" name="MSIP_Label_defa4170-0d19-0005-0004-bc88714345d2_SiteId">
    <vt:lpwstr>ec736587-c175-48f8-a09d-d5e0a51e1fc0</vt:lpwstr>
  </property>
  <property fmtid="{D5CDD505-2E9C-101B-9397-08002B2CF9AE}" pid="10" name="MSIP_Label_defa4170-0d19-0005-0004-bc88714345d2_Tag">
    <vt:lpwstr>10, 3, 0, 1</vt:lpwstr>
  </property>
  <property fmtid="{D5CDD505-2E9C-101B-9397-08002B2CF9AE}" pid="11" name="Notes">
    <vt:i4>1</vt:i4>
  </property>
  <property fmtid="{D5CDD505-2E9C-101B-9397-08002B2CF9AE}" pid="12" name="PresentationFormat">
    <vt:lpwstr>Custom</vt:lpwstr>
  </property>
  <property fmtid="{D5CDD505-2E9C-101B-9397-08002B2CF9AE}" pid="13" name="Slides">
    <vt:i4>10</vt:i4>
  </property>
</Properties>
</file>